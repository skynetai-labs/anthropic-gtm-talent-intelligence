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3dc3fb0516401e" /><Relationship Type="http://schemas.openxmlformats.org/officeDocument/2006/relationships/extended-properties" Target="/docProps/app.xml" Id="Rf512784f05604cde" /><Relationship Type="http://schemas.openxmlformats.org/officeDocument/2006/relationships/officeDocument" Target="/ppt/presentation.xml" Id="Red3c05a4224649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71b710894444fe"/>
  </p:sldMasterIdLst>
  <p:notesMasterIdLst>
    <p:notesMasterId xmlns:r="http://schemas.openxmlformats.org/officeDocument/2006/relationships" r:id="Rab3448bfa89f4c8a"/>
  </p:notesMasterIdLst>
  <p:sldIdLst>
    <p:sldId xmlns:r="http://schemas.openxmlformats.org/officeDocument/2006/relationships" id="256" r:id="Rf377b5cd251e4d45"/>
    <p:sldId xmlns:r="http://schemas.openxmlformats.org/officeDocument/2006/relationships" id="257" r:id="R2fda3f4722b5454b"/>
    <p:sldId xmlns:r="http://schemas.openxmlformats.org/officeDocument/2006/relationships" id="258" r:id="Rc5db45d8b31747d3"/>
    <p:sldId xmlns:r="http://schemas.openxmlformats.org/officeDocument/2006/relationships" id="259" r:id="Re5629422682b4886"/>
    <p:sldId xmlns:r="http://schemas.openxmlformats.org/officeDocument/2006/relationships" id="260" r:id="R99b4a47d55d64da9"/>
    <p:sldId xmlns:r="http://schemas.openxmlformats.org/officeDocument/2006/relationships" id="261" r:id="R06b6fe84f38446aa"/>
    <p:sldId xmlns:r="http://schemas.openxmlformats.org/officeDocument/2006/relationships" id="262" r:id="R7128b2e186ca4001"/>
    <p:sldId xmlns:r="http://schemas.openxmlformats.org/officeDocument/2006/relationships" id="263" r:id="R13de7bbec3d74c68"/>
    <p:sldId xmlns:r="http://schemas.openxmlformats.org/officeDocument/2006/relationships" id="264" r:id="Rdfbe6486265e4d99"/>
    <p:sldId xmlns:r="http://schemas.openxmlformats.org/officeDocument/2006/relationships" id="265" r:id="R45ba6a00714941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9d20238637425a" /><Relationship Type="http://schemas.openxmlformats.org/officeDocument/2006/relationships/slideMaster" Target="/ppt/slideMasters/slideMaster1.xml" Id="Rb471b710894444fe" /><Relationship Type="http://schemas.openxmlformats.org/officeDocument/2006/relationships/notesMaster" Target="/ppt/notesMasters/notesMaster1.xml" Id="Rab3448bfa89f4c8a" /><Relationship Type="http://schemas.openxmlformats.org/officeDocument/2006/relationships/presProps" Target="/ppt/presProps.xml" Id="Rcdbee4f0b53f4866" /><Relationship Type="http://schemas.openxmlformats.org/officeDocument/2006/relationships/tableStyles" Target="/ppt/tableStyles.xml" Id="R2f309acf4fc44091" /><Relationship Type="http://schemas.openxmlformats.org/officeDocument/2006/relationships/slide" Target="/ppt/slides/slide1.xml" Id="Rf377b5cd251e4d45" /><Relationship Type="http://schemas.openxmlformats.org/officeDocument/2006/relationships/slide" Target="/ppt/slides/slide2.xml" Id="R2fda3f4722b5454b" /><Relationship Type="http://schemas.openxmlformats.org/officeDocument/2006/relationships/slide" Target="/ppt/slides/slide3.xml" Id="Rc5db45d8b31747d3" /><Relationship Type="http://schemas.openxmlformats.org/officeDocument/2006/relationships/slide" Target="/ppt/slides/slide4.xml" Id="Re5629422682b4886" /><Relationship Type="http://schemas.openxmlformats.org/officeDocument/2006/relationships/slide" Target="/ppt/slides/slide5.xml" Id="R99b4a47d55d64da9" /><Relationship Type="http://schemas.openxmlformats.org/officeDocument/2006/relationships/slide" Target="/ppt/slides/slide6.xml" Id="R06b6fe84f38446aa" /><Relationship Type="http://schemas.openxmlformats.org/officeDocument/2006/relationships/slide" Target="/ppt/slides/slide7.xml" Id="R7128b2e186ca4001" /><Relationship Type="http://schemas.openxmlformats.org/officeDocument/2006/relationships/slide" Target="/ppt/slides/slide8.xml" Id="R13de7bbec3d74c68" /><Relationship Type="http://schemas.openxmlformats.org/officeDocument/2006/relationships/slide" Target="/ppt/slides/slide9.xml" Id="Rdfbe6486265e4d99" /><Relationship Type="http://schemas.openxmlformats.org/officeDocument/2006/relationships/slide" Target="/ppt/slides/slide10.xml" Id="R45ba6a00714941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102b4da96b4a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820932a5bb42c4" /><Relationship Type="http://schemas.openxmlformats.org/officeDocument/2006/relationships/notesMaster" Target="/ppt/notesMasters/notesMaster1.xml" Id="R932af6a700f94f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5aaccaec384d75" /><Relationship Type="http://schemas.openxmlformats.org/officeDocument/2006/relationships/notesMaster" Target="/ppt/notesMasters/notesMaster1.xml" Id="Re33f110d6da149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69e575e46d4112" /><Relationship Type="http://schemas.openxmlformats.org/officeDocument/2006/relationships/notesMaster" Target="/ppt/notesMasters/notesMaster1.xml" Id="Rbb2e9af4bcd947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a3e1e04f8c43aa" /><Relationship Type="http://schemas.openxmlformats.org/officeDocument/2006/relationships/notesMaster" Target="/ppt/notesMasters/notesMaster1.xml" Id="R2bd42c150fff4d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f9e98d078845f3" /><Relationship Type="http://schemas.openxmlformats.org/officeDocument/2006/relationships/notesMaster" Target="/ppt/notesMasters/notesMaster1.xml" Id="R30feb15c806d44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c3106922aa4566" /><Relationship Type="http://schemas.openxmlformats.org/officeDocument/2006/relationships/notesMaster" Target="/ppt/notesMasters/notesMaster1.xml" Id="Rf9c51eb0142d4f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4fff3aa13a4dbf" /><Relationship Type="http://schemas.openxmlformats.org/officeDocument/2006/relationships/notesMaster" Target="/ppt/notesMasters/notesMaster1.xml" Id="Rc26946f69eee4a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6fe7675b6c4de1" /><Relationship Type="http://schemas.openxmlformats.org/officeDocument/2006/relationships/notesMaster" Target="/ppt/notesMasters/notesMaster1.xml" Id="R6a52c997343444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f06f155ec44234" /><Relationship Type="http://schemas.openxmlformats.org/officeDocument/2006/relationships/notesMaster" Target="/ppt/notesMasters/notesMaster1.xml" Id="Rbfb99dadfcb341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999b4ff4714b92" /><Relationship Type="http://schemas.openxmlformats.org/officeDocument/2006/relationships/notesMaster" Target="/ppt/notesMasters/notesMaster1.xml" Id="Rd7b3c06ca6494a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case study by Adam Baig, SkynetAI-Labs. AI assisted development. All candidate data and results are fictional. No Anthropic affiliation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checked 25 October 2026: https://job-boards.greenhouse.io/anthropic/jobs/5460956008 ; https://job-boards.greenhouse.io/anthropic/jobs/5225003008 ; https://job-boards.greenhouse.io/anthropic/jobs/5390765008 . Proposed recruitment implications are independent judgments.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Professional background supplied by Adam and pending factual sign-off. No independent audit of achievements. No claim of Anthropic employment or AI placements.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structure: strategy, mapping, matching, pipeline and executive case study. Interactive tooling supports parts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London https://job-boards.greenhouse.io/anthropic/jobs/5225003008 ; Paris https://job-boards.greenhouse.io/anthropic/jobs/5426613008 ; Munich https://job-boards.greenhouse.io/anthropic/jobs/5382792008-0 ; Dublin role examples https://www.anthropic.com/careers/jobs ; competitor example https://openai.com/careers/account-director-large-enterprise-london-uk/ . Checked 25 October 2026. Advertised demand does not establish available talent supply.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Deterministic rules 1.1: 75 points competency evidence, 15 relevant experience and 10 industry context. Rules are illustrative and unvalidated. No automatic selection or rejection.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scenario, not achieved business results. Fifty mapped prospects, thirty applications, five single-seat searches. Funnel counts are applications ever reaching a stage. Four accepted offers, one declined, one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priorities, to agree after understanding actual business needs. No promise of hire volumes or time-to-fill.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records and results are fictional. No connected Claude API or real candidate sourcing. No access controls, ATS integration or operational fairness validation. Anthropic candidate AI guidance: https://www.anthropic.com/candidate-ai-guidance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implementation and demonstration only. Publication requires Adam’s approval of content, visibility and licence. GitLab access and mirror verification remain pending.</a:t>
            </a:r>
          </a:p>
          <a:p xmlns:a="http://schemas.openxmlformats.org/drawingml/2006/main">
            <a:br/>
            <a:r>
              <a:t>Canonical LinkedIn URL confirmed by Adam: https://www.linkedin.com/in/adambaiguk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33263838b4f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1ff97354741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62c788aa34d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65c21d16544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9f3a37c484e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9d75014cd4d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4FF761-E091-4516-A2D0-7F60C4806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70193E-F1A0-47C7-B117-E1939DCED3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40B271-7CA0-465C-B63E-2922D9A51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907824-6F68-4485-ACBC-6AC4374CC3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24411C-0F1B-4C7D-85F3-BF4719C9A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736327-9045-4BDA-BB1F-5B788201EF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FBC56E-C4A3-4BD9-88E6-98CE818470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016537-AC40-4D60-B29B-AD7963C22B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203359-EBC8-4116-BAEF-BDB6457556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3BFBBA-1122-4B3D-97F9-12696C245F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70a5a7b2b4472e" /><Relationship Type="http://schemas.openxmlformats.org/officeDocument/2006/relationships/slideLayout" Target="/ppt/slideLayouts/slideLayout1.xml" Id="R0f9fb48ef2614a35" /><Relationship Type="http://schemas.openxmlformats.org/officeDocument/2006/relationships/slideLayout" Target="/ppt/slideLayouts/slideLayout2.xml" Id="R02c35a51354a46ab" /><Relationship Type="http://schemas.openxmlformats.org/officeDocument/2006/relationships/slideLayout" Target="/ppt/slideLayouts/slideLayout3.xml" Id="R3cf7825acd954f6a" /><Relationship Type="http://schemas.openxmlformats.org/officeDocument/2006/relationships/slideLayout" Target="/ppt/slideLayouts/slideLayout4.xml" Id="R9cc1ee634b184713" /><Relationship Type="http://schemas.openxmlformats.org/officeDocument/2006/relationships/slideLayout" Target="/ppt/slideLayouts/slideLayout5.xml" Id="Rdf682d3b986141a3" /><Relationship Type="http://schemas.openxmlformats.org/officeDocument/2006/relationships/slideLayout" Target="/ppt/slideLayouts/slideLayout6.xml" Id="R05cf0c6b1a0b48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9fb48ef2614a35"/>
    <p:sldLayoutId xmlns:r="http://schemas.openxmlformats.org/officeDocument/2006/relationships" id="2147483650" r:id="R02c35a51354a46ab"/>
    <p:sldLayoutId xmlns:r="http://schemas.openxmlformats.org/officeDocument/2006/relationships" id="2147483651" r:id="R3cf7825acd954f6a"/>
    <p:sldLayoutId xmlns:r="http://schemas.openxmlformats.org/officeDocument/2006/relationships" id="2147483652" r:id="R9cc1ee634b184713"/>
    <p:sldLayoutId xmlns:r="http://schemas.openxmlformats.org/officeDocument/2006/relationships" id="2147483653" r:id="Rdf682d3b986141a3"/>
    <p:sldLayoutId xmlns:r="http://schemas.openxmlformats.org/officeDocument/2006/relationships" id="2147483654" r:id="R05cf0c6b1a0b48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ed4a579ee4b4f" /><Relationship Type="http://schemas.openxmlformats.org/officeDocument/2006/relationships/notesSlide" Target="/ppt/notesSlides/notesSlide1.xml" Id="R64b66e751a574a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b193546244a63" /><Relationship Type="http://schemas.openxmlformats.org/officeDocument/2006/relationships/notesSlide" Target="/ppt/notesSlides/notesSlide2.xml" Id="Rfa4835da200c46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9393174ee4bdc" /><Relationship Type="http://schemas.openxmlformats.org/officeDocument/2006/relationships/notesSlide" Target="/ppt/notesSlides/notesSlide3.xml" Id="R1b52cc561c2c4b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3079f27a642a3" /><Relationship Type="http://schemas.openxmlformats.org/officeDocument/2006/relationships/notesSlide" Target="/ppt/notesSlides/notesSlide4.xml" Id="R473d4ea15c2946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c4540ebfd4f9c" /><Relationship Type="http://schemas.openxmlformats.org/officeDocument/2006/relationships/notesSlide" Target="/ppt/notesSlides/notesSlide5.xml" Id="R4815884e4ea84d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875d3c1ccc4942" /><Relationship Type="http://schemas.openxmlformats.org/officeDocument/2006/relationships/notesSlide" Target="/ppt/notesSlides/notesSlide6.xml" Id="Rb1c494d49a0842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aef80a8e74d81" /><Relationship Type="http://schemas.openxmlformats.org/officeDocument/2006/relationships/notesSlide" Target="/ppt/notesSlides/notesSlide7.xml" Id="Rf72665a5ecc94f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7466126584242" /><Relationship Type="http://schemas.openxmlformats.org/officeDocument/2006/relationships/notesSlide" Target="/ppt/notesSlides/notesSlide8.xml" Id="R2455e1ef5c0545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8cb531e2142c9" /><Relationship Type="http://schemas.openxmlformats.org/officeDocument/2006/relationships/notesSlide" Target="/ppt/notesSlides/notesSlide9.xml" Id="Ra2bf494e3b5f41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206995ac0e42e9" /><Relationship Type="http://schemas.openxmlformats.org/officeDocument/2006/relationships/notesSlide" Target="/ppt/notesSlides/notesSlide10.xml" Id="Refebc1e3c7584c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8B926-E228-4B5A-98E7-275F181B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DF3FA"/>
                </a:solidFill>
              </a:defRPr>
            </a:defPPr>
            <a:lvl1pPr>
              <a:defRPr sz="3300" b="1">
                <a:solidFill>
                  <a:srgbClr val="EDF3FA"/>
                </a:solidFill>
              </a:defRPr>
            </a:lvl1pPr>
            <a:lvl2pPr>
              <a:defRPr sz="3300" b="1">
                <a:solidFill>
                  <a:srgbClr val="EDF3FA"/>
                </a:solidFill>
              </a:defRPr>
            </a:lvl2pPr>
            <a:lvl3pPr>
              <a:defRPr sz="3300" b="1">
                <a:solidFill>
                  <a:srgbClr val="EDF3FA"/>
                </a:solidFill>
              </a:defRPr>
            </a:lvl3pPr>
            <a:lvl4pPr>
              <a:defRPr sz="3300" b="1">
                <a:solidFill>
                  <a:srgbClr val="EDF3FA"/>
                </a:solidFill>
              </a:defRPr>
            </a:lvl4pPr>
            <a:lvl5pPr>
              <a:defRPr sz="3300" b="1">
                <a:solidFill>
                  <a:srgbClr val="EDF3FA"/>
                </a:solidFill>
              </a:defRPr>
            </a:lvl5pPr>
            <a:lvl6pPr>
              <a:defRPr sz="3300" b="1">
                <a:solidFill>
                  <a:srgbClr val="EDF3FA"/>
                </a:solidFill>
              </a:defRPr>
            </a:lvl6pPr>
            <a:lvl7pPr>
              <a:defRPr sz="3300" b="1">
                <a:solidFill>
                  <a:srgbClr val="EDF3FA"/>
                </a:solidFill>
              </a:defRPr>
            </a:lvl7pPr>
            <a:lvl8pPr>
              <a:defRPr sz="3300" b="1">
                <a:solidFill>
                  <a:srgbClr val="EDF3FA"/>
                </a:solidFill>
              </a:defRPr>
            </a:lvl8pPr>
            <a:lvl9pPr>
              <a:defRPr sz="33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DF3FA"/>
                </a:solidFill>
              </a:defRPr>
            </a:pPr>
            <a:r>
              <a:rPr sz="3300" b="1">
                <a:solidFill>
                  <a:srgbClr val="EDF3FA"/>
                </a:solidFill>
              </a:rPr>
              <a:t>GTM talent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BBF2E-7DE5-452B-8D59-A1E2644D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B9CD"/>
                </a:solidFill>
              </a:defRPr>
            </a:defPPr>
            <a:lvl1pPr>
              <a:defRPr sz="1350" b="0">
                <a:solidFill>
                  <a:srgbClr val="A9B9CD"/>
                </a:solidFill>
              </a:defRPr>
            </a:lvl1pPr>
            <a:lvl2pPr>
              <a:defRPr sz="1350" b="0">
                <a:solidFill>
                  <a:srgbClr val="A9B9CD"/>
                </a:solidFill>
              </a:defRPr>
            </a:lvl2pPr>
            <a:lvl3pPr>
              <a:defRPr sz="1350" b="0">
                <a:solidFill>
                  <a:srgbClr val="A9B9CD"/>
                </a:solidFill>
              </a:defRPr>
            </a:lvl3pPr>
            <a:lvl4pPr>
              <a:defRPr sz="1350" b="0">
                <a:solidFill>
                  <a:srgbClr val="A9B9CD"/>
                </a:solidFill>
              </a:defRPr>
            </a:lvl4pPr>
            <a:lvl5pPr>
              <a:defRPr sz="1350" b="0">
                <a:solidFill>
                  <a:srgbClr val="A9B9CD"/>
                </a:solidFill>
              </a:defRPr>
            </a:lvl5pPr>
            <a:lvl6pPr>
              <a:defRPr sz="1350" b="0">
                <a:solidFill>
                  <a:srgbClr val="A9B9CD"/>
                </a:solidFill>
              </a:defRPr>
            </a:lvl6pPr>
            <a:lvl7pPr>
              <a:defRPr sz="1350" b="0">
                <a:solidFill>
                  <a:srgbClr val="A9B9CD"/>
                </a:solidFill>
              </a:defRPr>
            </a:lvl7pPr>
            <a:lvl8pPr>
              <a:defRPr sz="1350" b="0">
                <a:solidFill>
                  <a:srgbClr val="A9B9CD"/>
                </a:solidFill>
              </a:defRPr>
            </a:lvl8pPr>
            <a:lvl9pPr>
              <a:defRPr sz="135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9CD"/>
                </a:solidFill>
              </a:defRPr>
            </a:pPr>
            <a:r>
              <a:rPr sz="1350" b="0">
                <a:solidFill>
                  <a:srgbClr val="A9B9CD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58F28-37F0-4FD1-A3EF-F9CF4B5B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58D4BA"/>
                </a:solidFill>
              </a:defRPr>
            </a:defPPr>
            <a:lvl1pPr>
              <a:defRPr sz="2850" b="0">
                <a:solidFill>
                  <a:srgbClr val="58D4BA"/>
                </a:solidFill>
              </a:defRPr>
            </a:lvl1pPr>
            <a:lvl2pPr>
              <a:defRPr sz="2850" b="0">
                <a:solidFill>
                  <a:srgbClr val="58D4BA"/>
                </a:solidFill>
              </a:defRPr>
            </a:lvl2pPr>
            <a:lvl3pPr>
              <a:defRPr sz="2850" b="0">
                <a:solidFill>
                  <a:srgbClr val="58D4BA"/>
                </a:solidFill>
              </a:defRPr>
            </a:lvl3pPr>
            <a:lvl4pPr>
              <a:defRPr sz="2850" b="0">
                <a:solidFill>
                  <a:srgbClr val="58D4BA"/>
                </a:solidFill>
              </a:defRPr>
            </a:lvl4pPr>
            <a:lvl5pPr>
              <a:defRPr sz="2850" b="0">
                <a:solidFill>
                  <a:srgbClr val="58D4BA"/>
                </a:solidFill>
              </a:defRPr>
            </a:lvl5pPr>
            <a:lvl6pPr>
              <a:defRPr sz="2850" b="0">
                <a:solidFill>
                  <a:srgbClr val="58D4BA"/>
                </a:solidFill>
              </a:defRPr>
            </a:lvl6pPr>
            <a:lvl7pPr>
              <a:defRPr sz="2850" b="0">
                <a:solidFill>
                  <a:srgbClr val="58D4BA"/>
                </a:solidFill>
              </a:defRPr>
            </a:lvl7pPr>
            <a:lvl8pPr>
              <a:defRPr sz="2850" b="0">
                <a:solidFill>
                  <a:srgbClr val="58D4BA"/>
                </a:solidFill>
              </a:defRPr>
            </a:lvl8pPr>
            <a:lvl9pPr>
              <a:defRPr sz="2850" b="0">
                <a:solidFill>
                  <a:srgbClr val="58D4BA"/>
                </a:solidFill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8D4BA"/>
                </a:solidFill>
              </a:defRPr>
            </a:pPr>
            <a:r>
              <a:rPr sz="2850" b="0">
                <a:solidFill>
                  <a:srgbClr val="58D4BA"/>
                </a:solidFill>
              </a:rPr>
              <a:t>A recruitment case study for enterprise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42828-CF65-4F9B-8C55-B3D6ED6B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DF3FA"/>
                </a:solidFill>
              </a:defRPr>
            </a:defPPr>
            <a:lvl1pPr>
              <a:defRPr sz="2100" b="0">
                <a:solidFill>
                  <a:srgbClr val="EDF3FA"/>
                </a:solidFill>
              </a:defRPr>
            </a:lvl1pPr>
            <a:lvl2pPr>
              <a:defRPr sz="2100" b="0">
                <a:solidFill>
                  <a:srgbClr val="EDF3FA"/>
                </a:solidFill>
              </a:defRPr>
            </a:lvl2pPr>
            <a:lvl3pPr>
              <a:defRPr sz="2100" b="0">
                <a:solidFill>
                  <a:srgbClr val="EDF3FA"/>
                </a:solidFill>
              </a:defRPr>
            </a:lvl3pPr>
            <a:lvl4pPr>
              <a:defRPr sz="2100" b="0">
                <a:solidFill>
                  <a:srgbClr val="EDF3FA"/>
                </a:solidFill>
              </a:defRPr>
            </a:lvl4pPr>
            <a:lvl5pPr>
              <a:defRPr sz="2100" b="0">
                <a:solidFill>
                  <a:srgbClr val="EDF3FA"/>
                </a:solidFill>
              </a:defRPr>
            </a:lvl5pPr>
            <a:lvl6pPr>
              <a:defRPr sz="2100" b="0">
                <a:solidFill>
                  <a:srgbClr val="EDF3FA"/>
                </a:solidFill>
              </a:defRPr>
            </a:lvl6pPr>
            <a:lvl7pPr>
              <a:defRPr sz="2100" b="0">
                <a:solidFill>
                  <a:srgbClr val="EDF3FA"/>
                </a:solidFill>
              </a:defRPr>
            </a:lvl7pPr>
            <a:lvl8pPr>
              <a:defRPr sz="2100" b="0">
                <a:solidFill>
                  <a:srgbClr val="EDF3FA"/>
                </a:solidFill>
              </a:defRPr>
            </a:lvl8pPr>
            <a:lvl9pPr>
              <a:defRPr sz="210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Adam Baig</a:t>
            </a:r>
          </a:p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SkynetAI-Labs</a:t>
            </a:r>
          </a:p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25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B2CC0-5F91-435B-97A2-D816E7AB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9B9CD"/>
                </a:solidFill>
              </a:defRPr>
            </a:defPPr>
            <a:lvl1pPr>
              <a:defRPr sz="1650" b="0">
                <a:solidFill>
                  <a:srgbClr val="A9B9CD"/>
                </a:solidFill>
              </a:defRPr>
            </a:lvl1pPr>
            <a:lvl2pPr>
              <a:defRPr sz="1650" b="0">
                <a:solidFill>
                  <a:srgbClr val="A9B9CD"/>
                </a:solidFill>
              </a:defRPr>
            </a:lvl2pPr>
            <a:lvl3pPr>
              <a:defRPr sz="1650" b="0">
                <a:solidFill>
                  <a:srgbClr val="A9B9CD"/>
                </a:solidFill>
              </a:defRPr>
            </a:lvl3pPr>
            <a:lvl4pPr>
              <a:defRPr sz="1650" b="0">
                <a:solidFill>
                  <a:srgbClr val="A9B9CD"/>
                </a:solidFill>
              </a:defRPr>
            </a:lvl4pPr>
            <a:lvl5pPr>
              <a:defRPr sz="1650" b="0">
                <a:solidFill>
                  <a:srgbClr val="A9B9CD"/>
                </a:solidFill>
              </a:defRPr>
            </a:lvl5pPr>
            <a:lvl6pPr>
              <a:defRPr sz="1650" b="0">
                <a:solidFill>
                  <a:srgbClr val="A9B9CD"/>
                </a:solidFill>
              </a:defRPr>
            </a:lvl6pPr>
            <a:lvl7pPr>
              <a:defRPr sz="1650" b="0">
                <a:solidFill>
                  <a:srgbClr val="A9B9CD"/>
                </a:solidFill>
              </a:defRPr>
            </a:lvl7pPr>
            <a:lvl8pPr>
              <a:defRPr sz="1650" b="0">
                <a:solidFill>
                  <a:srgbClr val="A9B9CD"/>
                </a:solidFill>
              </a:defRPr>
            </a:lvl8pPr>
            <a:lvl9pPr>
              <a:defRPr sz="165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9B9CD"/>
                </a:solidFill>
              </a:defRPr>
            </a:pPr>
            <a:r>
              <a:rPr sz="1650" b="0">
                <a:solidFill>
                  <a:srgbClr val="A9B9CD"/>
                </a:solidFill>
              </a:rPr>
              <a:t>Independent project. Fictional records and simulated results.</a:t>
            </a:r>
          </a:p>
        </p:txBody>
      </p:sp>
    </p:spTree>
    <p:extLst>
      <p:ext uri="{BB962C8B-B14F-4D97-AF65-F5344CB8AC3E}">
        <p14:creationId xmlns:p14="http://schemas.microsoft.com/office/powerpoint/2010/main" val="1019509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BAD7E-AF07-4D0D-887C-B2DB3304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DF3FA"/>
                </a:solidFill>
              </a:defRPr>
            </a:defPPr>
            <a:lvl1pPr>
              <a:defRPr sz="3300" b="1">
                <a:solidFill>
                  <a:srgbClr val="EDF3FA"/>
                </a:solidFill>
              </a:defRPr>
            </a:lvl1pPr>
            <a:lvl2pPr>
              <a:defRPr sz="3300" b="1">
                <a:solidFill>
                  <a:srgbClr val="EDF3FA"/>
                </a:solidFill>
              </a:defRPr>
            </a:lvl2pPr>
            <a:lvl3pPr>
              <a:defRPr sz="3300" b="1">
                <a:solidFill>
                  <a:srgbClr val="EDF3FA"/>
                </a:solidFill>
              </a:defRPr>
            </a:lvl3pPr>
            <a:lvl4pPr>
              <a:defRPr sz="3300" b="1">
                <a:solidFill>
                  <a:srgbClr val="EDF3FA"/>
                </a:solidFill>
              </a:defRPr>
            </a:lvl4pPr>
            <a:lvl5pPr>
              <a:defRPr sz="3300" b="1">
                <a:solidFill>
                  <a:srgbClr val="EDF3FA"/>
                </a:solidFill>
              </a:defRPr>
            </a:lvl5pPr>
            <a:lvl6pPr>
              <a:defRPr sz="3300" b="1">
                <a:solidFill>
                  <a:srgbClr val="EDF3FA"/>
                </a:solidFill>
              </a:defRPr>
            </a:lvl6pPr>
            <a:lvl7pPr>
              <a:defRPr sz="3300" b="1">
                <a:solidFill>
                  <a:srgbClr val="EDF3FA"/>
                </a:solidFill>
              </a:defRPr>
            </a:lvl7pPr>
            <a:lvl8pPr>
              <a:defRPr sz="3300" b="1">
                <a:solidFill>
                  <a:srgbClr val="EDF3FA"/>
                </a:solidFill>
              </a:defRPr>
            </a:lvl8pPr>
            <a:lvl9pPr>
              <a:defRPr sz="33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DF3FA"/>
                </a:solidFill>
              </a:defRPr>
            </a:pPr>
            <a:r>
              <a:rPr sz="3300" b="1">
                <a:solidFill>
                  <a:srgbClr val="EDF3FA"/>
                </a:solidFill>
              </a:rPr>
              <a:t>The hiring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A3C5D-E870-4D2D-A4FA-7B903AA5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B9CD"/>
                </a:solidFill>
              </a:defRPr>
            </a:defPPr>
            <a:lvl1pPr>
              <a:defRPr sz="1350" b="0">
                <a:solidFill>
                  <a:srgbClr val="A9B9CD"/>
                </a:solidFill>
              </a:defRPr>
            </a:lvl1pPr>
            <a:lvl2pPr>
              <a:defRPr sz="1350" b="0">
                <a:solidFill>
                  <a:srgbClr val="A9B9CD"/>
                </a:solidFill>
              </a:defRPr>
            </a:lvl2pPr>
            <a:lvl3pPr>
              <a:defRPr sz="1350" b="0">
                <a:solidFill>
                  <a:srgbClr val="A9B9CD"/>
                </a:solidFill>
              </a:defRPr>
            </a:lvl3pPr>
            <a:lvl4pPr>
              <a:defRPr sz="1350" b="0">
                <a:solidFill>
                  <a:srgbClr val="A9B9CD"/>
                </a:solidFill>
              </a:defRPr>
            </a:lvl4pPr>
            <a:lvl5pPr>
              <a:defRPr sz="1350" b="0">
                <a:solidFill>
                  <a:srgbClr val="A9B9CD"/>
                </a:solidFill>
              </a:defRPr>
            </a:lvl5pPr>
            <a:lvl6pPr>
              <a:defRPr sz="1350" b="0">
                <a:solidFill>
                  <a:srgbClr val="A9B9CD"/>
                </a:solidFill>
              </a:defRPr>
            </a:lvl6pPr>
            <a:lvl7pPr>
              <a:defRPr sz="1350" b="0">
                <a:solidFill>
                  <a:srgbClr val="A9B9CD"/>
                </a:solidFill>
              </a:defRPr>
            </a:lvl7pPr>
            <a:lvl8pPr>
              <a:defRPr sz="1350" b="0">
                <a:solidFill>
                  <a:srgbClr val="A9B9CD"/>
                </a:solidFill>
              </a:defRPr>
            </a:lvl8pPr>
            <a:lvl9pPr>
              <a:defRPr sz="135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9CD"/>
                </a:solidFill>
              </a:defRPr>
            </a:pPr>
            <a:r>
              <a:rPr sz="1350" b="0">
                <a:solidFill>
                  <a:srgbClr val="A9B9C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FCC6C-F437-471D-AB25-A732A1AE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58D4BA"/>
                </a:solidFill>
              </a:defRPr>
            </a:defPPr>
            <a:lvl1pPr>
              <a:defRPr sz="2700" b="1">
                <a:solidFill>
                  <a:srgbClr val="58D4BA"/>
                </a:solidFill>
              </a:defRPr>
            </a:lvl1pPr>
            <a:lvl2pPr>
              <a:defRPr sz="2700" b="1">
                <a:solidFill>
                  <a:srgbClr val="58D4BA"/>
                </a:solidFill>
              </a:defRPr>
            </a:lvl2pPr>
            <a:lvl3pPr>
              <a:defRPr sz="2700" b="1">
                <a:solidFill>
                  <a:srgbClr val="58D4BA"/>
                </a:solidFill>
              </a:defRPr>
            </a:lvl3pPr>
            <a:lvl4pPr>
              <a:defRPr sz="2700" b="1">
                <a:solidFill>
                  <a:srgbClr val="58D4BA"/>
                </a:solidFill>
              </a:defRPr>
            </a:lvl4pPr>
            <a:lvl5pPr>
              <a:defRPr sz="2700" b="1">
                <a:solidFill>
                  <a:srgbClr val="58D4BA"/>
                </a:solidFill>
              </a:defRPr>
            </a:lvl5pPr>
            <a:lvl6pPr>
              <a:defRPr sz="2700" b="1">
                <a:solidFill>
                  <a:srgbClr val="58D4BA"/>
                </a:solidFill>
              </a:defRPr>
            </a:lvl6pPr>
            <a:lvl7pPr>
              <a:defRPr sz="2700" b="1">
                <a:solidFill>
                  <a:srgbClr val="58D4BA"/>
                </a:solidFill>
              </a:defRPr>
            </a:lvl7pPr>
            <a:lvl8pPr>
              <a:defRPr sz="2700" b="1">
                <a:solidFill>
                  <a:srgbClr val="58D4BA"/>
                </a:solidFill>
              </a:defRPr>
            </a:lvl8pPr>
            <a:lvl9pPr>
              <a:defRPr sz="2700" b="1">
                <a:solidFill>
                  <a:srgbClr val="58D4B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58D4BA"/>
                </a:solidFill>
              </a:defRPr>
            </a:pPr>
            <a:r>
              <a:rPr sz="2700" b="1">
                <a:solidFill>
                  <a:srgbClr val="58D4BA"/>
                </a:solidFill>
              </a:rPr>
              <a:t>Enterprise AI needs commercial credibility and technical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2D15A-78C2-4A2F-889D-88C3628D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047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DF3FA"/>
                </a:solidFill>
              </a:defRPr>
            </a:defPPr>
            <a:lvl1pPr>
              <a:defRPr sz="2100" b="0">
                <a:solidFill>
                  <a:srgbClr val="EDF3FA"/>
                </a:solidFill>
              </a:defRPr>
            </a:lvl1pPr>
            <a:lvl2pPr>
              <a:defRPr sz="2100" b="0">
                <a:solidFill>
                  <a:srgbClr val="EDF3FA"/>
                </a:solidFill>
              </a:defRPr>
            </a:lvl2pPr>
            <a:lvl3pPr>
              <a:defRPr sz="2100" b="0">
                <a:solidFill>
                  <a:srgbClr val="EDF3FA"/>
                </a:solidFill>
              </a:defRPr>
            </a:lvl3pPr>
            <a:lvl4pPr>
              <a:defRPr sz="2100" b="0">
                <a:solidFill>
                  <a:srgbClr val="EDF3FA"/>
                </a:solidFill>
              </a:defRPr>
            </a:lvl4pPr>
            <a:lvl5pPr>
              <a:defRPr sz="2100" b="0">
                <a:solidFill>
                  <a:srgbClr val="EDF3FA"/>
                </a:solidFill>
              </a:defRPr>
            </a:lvl5pPr>
            <a:lvl6pPr>
              <a:defRPr sz="2100" b="0">
                <a:solidFill>
                  <a:srgbClr val="EDF3FA"/>
                </a:solidFill>
              </a:defRPr>
            </a:lvl6pPr>
            <a:lvl7pPr>
              <a:defRPr sz="2100" b="0">
                <a:solidFill>
                  <a:srgbClr val="EDF3FA"/>
                </a:solidFill>
              </a:defRPr>
            </a:lvl7pPr>
            <a:lvl8pPr>
              <a:defRPr sz="2100" b="0">
                <a:solidFill>
                  <a:srgbClr val="EDF3FA"/>
                </a:solidFill>
              </a:defRPr>
            </a:lvl8pPr>
            <a:lvl9pPr>
              <a:defRPr sz="210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Public roles describe complex customer decisions and cross-functional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The recruiter must distinguish convincing stories from evidence of personal contribution.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The London Business Recruiter role spans EMEA and welcomes GTM or G&amp;A depth.</a:t>
            </a:r>
          </a:p>
        </p:txBody>
      </p:sp>
    </p:spTree>
    <p:extLst>
      <p:ext uri="{BB962C8B-B14F-4D97-AF65-F5344CB8AC3E}">
        <p14:creationId xmlns:p14="http://schemas.microsoft.com/office/powerpoint/2010/main" val="1322179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DBF0A-4CA6-484E-B44E-774C3BAB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DF3FA"/>
                </a:solidFill>
              </a:defRPr>
            </a:defPPr>
            <a:lvl1pPr>
              <a:defRPr sz="3300" b="1">
                <a:solidFill>
                  <a:srgbClr val="EDF3FA"/>
                </a:solidFill>
              </a:defRPr>
            </a:lvl1pPr>
            <a:lvl2pPr>
              <a:defRPr sz="3300" b="1">
                <a:solidFill>
                  <a:srgbClr val="EDF3FA"/>
                </a:solidFill>
              </a:defRPr>
            </a:lvl2pPr>
            <a:lvl3pPr>
              <a:defRPr sz="3300" b="1">
                <a:solidFill>
                  <a:srgbClr val="EDF3FA"/>
                </a:solidFill>
              </a:defRPr>
            </a:lvl3pPr>
            <a:lvl4pPr>
              <a:defRPr sz="3300" b="1">
                <a:solidFill>
                  <a:srgbClr val="EDF3FA"/>
                </a:solidFill>
              </a:defRPr>
            </a:lvl4pPr>
            <a:lvl5pPr>
              <a:defRPr sz="3300" b="1">
                <a:solidFill>
                  <a:srgbClr val="EDF3FA"/>
                </a:solidFill>
              </a:defRPr>
            </a:lvl5pPr>
            <a:lvl6pPr>
              <a:defRPr sz="3300" b="1">
                <a:solidFill>
                  <a:srgbClr val="EDF3FA"/>
                </a:solidFill>
              </a:defRPr>
            </a:lvl6pPr>
            <a:lvl7pPr>
              <a:defRPr sz="3300" b="1">
                <a:solidFill>
                  <a:srgbClr val="EDF3FA"/>
                </a:solidFill>
              </a:defRPr>
            </a:lvl7pPr>
            <a:lvl8pPr>
              <a:defRPr sz="3300" b="1">
                <a:solidFill>
                  <a:srgbClr val="EDF3FA"/>
                </a:solidFill>
              </a:defRPr>
            </a:lvl8pPr>
            <a:lvl9pPr>
              <a:defRPr sz="33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DF3FA"/>
                </a:solidFill>
              </a:defRPr>
            </a:pPr>
            <a:r>
              <a:rPr sz="3300" b="1">
                <a:solidFill>
                  <a:srgbClr val="EDF3FA"/>
                </a:solidFill>
              </a:rPr>
              <a:t>Experience applied to 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4CDD6-5B93-4F44-9B7D-499F598D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B9CD"/>
                </a:solidFill>
              </a:defRPr>
            </a:defPPr>
            <a:lvl1pPr>
              <a:defRPr sz="1350" b="0">
                <a:solidFill>
                  <a:srgbClr val="A9B9CD"/>
                </a:solidFill>
              </a:defRPr>
            </a:lvl1pPr>
            <a:lvl2pPr>
              <a:defRPr sz="1350" b="0">
                <a:solidFill>
                  <a:srgbClr val="A9B9CD"/>
                </a:solidFill>
              </a:defRPr>
            </a:lvl2pPr>
            <a:lvl3pPr>
              <a:defRPr sz="1350" b="0">
                <a:solidFill>
                  <a:srgbClr val="A9B9CD"/>
                </a:solidFill>
              </a:defRPr>
            </a:lvl3pPr>
            <a:lvl4pPr>
              <a:defRPr sz="1350" b="0">
                <a:solidFill>
                  <a:srgbClr val="A9B9CD"/>
                </a:solidFill>
              </a:defRPr>
            </a:lvl4pPr>
            <a:lvl5pPr>
              <a:defRPr sz="1350" b="0">
                <a:solidFill>
                  <a:srgbClr val="A9B9CD"/>
                </a:solidFill>
              </a:defRPr>
            </a:lvl5pPr>
            <a:lvl6pPr>
              <a:defRPr sz="1350" b="0">
                <a:solidFill>
                  <a:srgbClr val="A9B9CD"/>
                </a:solidFill>
              </a:defRPr>
            </a:lvl6pPr>
            <a:lvl7pPr>
              <a:defRPr sz="1350" b="0">
                <a:solidFill>
                  <a:srgbClr val="A9B9CD"/>
                </a:solidFill>
              </a:defRPr>
            </a:lvl7pPr>
            <a:lvl8pPr>
              <a:defRPr sz="1350" b="0">
                <a:solidFill>
                  <a:srgbClr val="A9B9CD"/>
                </a:solidFill>
              </a:defRPr>
            </a:lvl8pPr>
            <a:lvl9pPr>
              <a:defRPr sz="135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9CD"/>
                </a:solidFill>
              </a:defRPr>
            </a:pPr>
            <a:r>
              <a:rPr sz="1350" b="0">
                <a:solidFill>
                  <a:srgbClr val="A9B9C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478CC-1BD7-48E6-AF30-19FC8F90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58D4BA"/>
                </a:solidFill>
              </a:defRPr>
            </a:defPPr>
            <a:lvl1pPr>
              <a:defRPr sz="3300" b="1">
                <a:solidFill>
                  <a:srgbClr val="58D4BA"/>
                </a:solidFill>
              </a:defRPr>
            </a:lvl1pPr>
            <a:lvl2pPr>
              <a:defRPr sz="3300" b="1">
                <a:solidFill>
                  <a:srgbClr val="58D4BA"/>
                </a:solidFill>
              </a:defRPr>
            </a:lvl2pPr>
            <a:lvl3pPr>
              <a:defRPr sz="3300" b="1">
                <a:solidFill>
                  <a:srgbClr val="58D4BA"/>
                </a:solidFill>
              </a:defRPr>
            </a:lvl3pPr>
            <a:lvl4pPr>
              <a:defRPr sz="3300" b="1">
                <a:solidFill>
                  <a:srgbClr val="58D4BA"/>
                </a:solidFill>
              </a:defRPr>
            </a:lvl4pPr>
            <a:lvl5pPr>
              <a:defRPr sz="3300" b="1">
                <a:solidFill>
                  <a:srgbClr val="58D4BA"/>
                </a:solidFill>
              </a:defRPr>
            </a:lvl5pPr>
            <a:lvl6pPr>
              <a:defRPr sz="3300" b="1">
                <a:solidFill>
                  <a:srgbClr val="58D4BA"/>
                </a:solidFill>
              </a:defRPr>
            </a:lvl6pPr>
            <a:lvl7pPr>
              <a:defRPr sz="3300" b="1">
                <a:solidFill>
                  <a:srgbClr val="58D4BA"/>
                </a:solidFill>
              </a:defRPr>
            </a:lvl7pPr>
            <a:lvl8pPr>
              <a:defRPr sz="3300" b="1">
                <a:solidFill>
                  <a:srgbClr val="58D4BA"/>
                </a:solidFill>
              </a:defRPr>
            </a:lvl8pPr>
            <a:lvl9pPr>
              <a:defRPr sz="3300" b="1">
                <a:solidFill>
                  <a:srgbClr val="58D4B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58D4BA"/>
                </a:solidFill>
              </a:defRPr>
            </a:pPr>
            <a:r>
              <a:rPr sz="3300" b="1">
                <a:solidFill>
                  <a:srgbClr val="58D4BA"/>
                </a:solidFill>
              </a:rPr>
              <a:t>20+ years in recruitment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E6018-0EE6-41EC-A84F-C56FECE3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EDF3FA"/>
                </a:solidFill>
              </a:defRPr>
            </a:defPPr>
            <a:lvl1pPr>
              <a:defRPr sz="2400" b="0">
                <a:solidFill>
                  <a:srgbClr val="EDF3FA"/>
                </a:solidFill>
              </a:defRPr>
            </a:lvl1pPr>
            <a:lvl2pPr>
              <a:defRPr sz="2400" b="0">
                <a:solidFill>
                  <a:srgbClr val="EDF3FA"/>
                </a:solidFill>
              </a:defRPr>
            </a:lvl2pPr>
            <a:lvl3pPr>
              <a:defRPr sz="2400" b="0">
                <a:solidFill>
                  <a:srgbClr val="EDF3FA"/>
                </a:solidFill>
              </a:defRPr>
            </a:lvl3pPr>
            <a:lvl4pPr>
              <a:defRPr sz="2400" b="0">
                <a:solidFill>
                  <a:srgbClr val="EDF3FA"/>
                </a:solidFill>
              </a:defRPr>
            </a:lvl4pPr>
            <a:lvl5pPr>
              <a:defRPr sz="2400" b="0">
                <a:solidFill>
                  <a:srgbClr val="EDF3FA"/>
                </a:solidFill>
              </a:defRPr>
            </a:lvl5pPr>
            <a:lvl6pPr>
              <a:defRPr sz="2400" b="0">
                <a:solidFill>
                  <a:srgbClr val="EDF3FA"/>
                </a:solidFill>
              </a:defRPr>
            </a:lvl6pPr>
            <a:lvl7pPr>
              <a:defRPr sz="2400" b="0">
                <a:solidFill>
                  <a:srgbClr val="EDF3FA"/>
                </a:solidFill>
              </a:defRPr>
            </a:lvl7pPr>
            <a:lvl8pPr>
              <a:defRPr sz="2400" b="0">
                <a:solidFill>
                  <a:srgbClr val="EDF3FA"/>
                </a:solidFill>
              </a:defRPr>
            </a:lvl8pPr>
            <a:lvl9pPr>
              <a:defRPr sz="240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DF3FA"/>
                </a:solidFill>
              </a:defRPr>
            </a:pPr>
            <a:r>
              <a:rPr sz="2400" b="0">
                <a:solidFill>
                  <a:srgbClr val="EDF3FA"/>
                </a:solidFill>
              </a:rPr>
              <a:t>International search and commercial recruitment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EDF3FA"/>
                </a:solidFill>
              </a:defRPr>
            </a:pPr>
            <a:r>
              <a:rPr sz="2400" b="0">
                <a:solidFill>
                  <a:srgbClr val="EDF3FA"/>
                </a:solidFill>
              </a:rPr>
              <a:t>Industrial and energy client experience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EDF3FA"/>
                </a:solidFill>
              </a:defRPr>
            </a:pPr>
            <a:r>
              <a:rPr sz="2400" b="0">
                <a:solidFill>
                  <a:srgbClr val="EDF3FA"/>
                </a:solidFill>
              </a:rPr>
              <a:t>Business development and senior stakeholder relationships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43AA6-B16D-4697-9AC2-3C141670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B9CD"/>
                </a:solidFill>
              </a:defRPr>
            </a:defPPr>
            <a:lvl1pPr>
              <a:defRPr sz="1800" b="0">
                <a:solidFill>
                  <a:srgbClr val="A9B9CD"/>
                </a:solidFill>
              </a:defRPr>
            </a:lvl1pPr>
            <a:lvl2pPr>
              <a:defRPr sz="1800" b="0">
                <a:solidFill>
                  <a:srgbClr val="A9B9CD"/>
                </a:solidFill>
              </a:defRPr>
            </a:lvl2pPr>
            <a:lvl3pPr>
              <a:defRPr sz="1800" b="0">
                <a:solidFill>
                  <a:srgbClr val="A9B9CD"/>
                </a:solidFill>
              </a:defRPr>
            </a:lvl3pPr>
            <a:lvl4pPr>
              <a:defRPr sz="1800" b="0">
                <a:solidFill>
                  <a:srgbClr val="A9B9CD"/>
                </a:solidFill>
              </a:defRPr>
            </a:lvl4pPr>
            <a:lvl5pPr>
              <a:defRPr sz="1800" b="0">
                <a:solidFill>
                  <a:srgbClr val="A9B9CD"/>
                </a:solidFill>
              </a:defRPr>
            </a:lvl5pPr>
            <a:lvl6pPr>
              <a:defRPr sz="1800" b="0">
                <a:solidFill>
                  <a:srgbClr val="A9B9CD"/>
                </a:solidFill>
              </a:defRPr>
            </a:lvl6pPr>
            <a:lvl7pPr>
              <a:defRPr sz="1800" b="0">
                <a:solidFill>
                  <a:srgbClr val="A9B9CD"/>
                </a:solidFill>
              </a:defRPr>
            </a:lvl7pPr>
            <a:lvl8pPr>
              <a:defRPr sz="1800" b="0">
                <a:solidFill>
                  <a:srgbClr val="A9B9CD"/>
                </a:solidFill>
              </a:defRPr>
            </a:lvl8pPr>
            <a:lvl9pPr>
              <a:defRPr sz="180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9B9CD"/>
                </a:solidFill>
              </a:defRPr>
            </a:pPr>
            <a:r>
              <a:rPr sz="1800" b="0">
                <a:solidFill>
                  <a:srgbClr val="A9B9CD"/>
                </a:solidFill>
              </a:rPr>
              <a:t>The case study shows how that experience could inform GTM hiring.</a:t>
            </a:r>
          </a:p>
        </p:txBody>
      </p:sp>
    </p:spTree>
    <p:extLst>
      <p:ext uri="{BB962C8B-B14F-4D97-AF65-F5344CB8AC3E}">
        <p14:creationId xmlns:p14="http://schemas.microsoft.com/office/powerpoint/2010/main" val="626758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E1E02-4855-4313-A6FC-3658E0F9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DF3FA"/>
                </a:solidFill>
              </a:defRPr>
            </a:defPPr>
            <a:lvl1pPr>
              <a:defRPr sz="3300" b="1">
                <a:solidFill>
                  <a:srgbClr val="EDF3FA"/>
                </a:solidFill>
              </a:defRPr>
            </a:lvl1pPr>
            <a:lvl2pPr>
              <a:defRPr sz="3300" b="1">
                <a:solidFill>
                  <a:srgbClr val="EDF3FA"/>
                </a:solidFill>
              </a:defRPr>
            </a:lvl2pPr>
            <a:lvl3pPr>
              <a:defRPr sz="3300" b="1">
                <a:solidFill>
                  <a:srgbClr val="EDF3FA"/>
                </a:solidFill>
              </a:defRPr>
            </a:lvl3pPr>
            <a:lvl4pPr>
              <a:defRPr sz="3300" b="1">
                <a:solidFill>
                  <a:srgbClr val="EDF3FA"/>
                </a:solidFill>
              </a:defRPr>
            </a:lvl4pPr>
            <a:lvl5pPr>
              <a:defRPr sz="3300" b="1">
                <a:solidFill>
                  <a:srgbClr val="EDF3FA"/>
                </a:solidFill>
              </a:defRPr>
            </a:lvl5pPr>
            <a:lvl6pPr>
              <a:defRPr sz="3300" b="1">
                <a:solidFill>
                  <a:srgbClr val="EDF3FA"/>
                </a:solidFill>
              </a:defRPr>
            </a:lvl6pPr>
            <a:lvl7pPr>
              <a:defRPr sz="3300" b="1">
                <a:solidFill>
                  <a:srgbClr val="EDF3FA"/>
                </a:solidFill>
              </a:defRPr>
            </a:lvl7pPr>
            <a:lvl8pPr>
              <a:defRPr sz="3300" b="1">
                <a:solidFill>
                  <a:srgbClr val="EDF3FA"/>
                </a:solidFill>
              </a:defRPr>
            </a:lvl8pPr>
            <a:lvl9pPr>
              <a:defRPr sz="33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DF3FA"/>
                </a:solidFill>
              </a:defRPr>
            </a:pPr>
            <a:r>
              <a:rPr sz="3300" b="1">
                <a:solidFill>
                  <a:srgbClr val="EDF3FA"/>
                </a:solidFill>
              </a:rPr>
              <a:t>Five connected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1FFC1-E71B-4CB1-885A-D8593C79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B9CD"/>
                </a:solidFill>
              </a:defRPr>
            </a:defPPr>
            <a:lvl1pPr>
              <a:defRPr sz="1350" b="0">
                <a:solidFill>
                  <a:srgbClr val="A9B9CD"/>
                </a:solidFill>
              </a:defRPr>
            </a:lvl1pPr>
            <a:lvl2pPr>
              <a:defRPr sz="1350" b="0">
                <a:solidFill>
                  <a:srgbClr val="A9B9CD"/>
                </a:solidFill>
              </a:defRPr>
            </a:lvl2pPr>
            <a:lvl3pPr>
              <a:defRPr sz="1350" b="0">
                <a:solidFill>
                  <a:srgbClr val="A9B9CD"/>
                </a:solidFill>
              </a:defRPr>
            </a:lvl3pPr>
            <a:lvl4pPr>
              <a:defRPr sz="1350" b="0">
                <a:solidFill>
                  <a:srgbClr val="A9B9CD"/>
                </a:solidFill>
              </a:defRPr>
            </a:lvl4pPr>
            <a:lvl5pPr>
              <a:defRPr sz="1350" b="0">
                <a:solidFill>
                  <a:srgbClr val="A9B9CD"/>
                </a:solidFill>
              </a:defRPr>
            </a:lvl5pPr>
            <a:lvl6pPr>
              <a:defRPr sz="1350" b="0">
                <a:solidFill>
                  <a:srgbClr val="A9B9CD"/>
                </a:solidFill>
              </a:defRPr>
            </a:lvl6pPr>
            <a:lvl7pPr>
              <a:defRPr sz="1350" b="0">
                <a:solidFill>
                  <a:srgbClr val="A9B9CD"/>
                </a:solidFill>
              </a:defRPr>
            </a:lvl7pPr>
            <a:lvl8pPr>
              <a:defRPr sz="1350" b="0">
                <a:solidFill>
                  <a:srgbClr val="A9B9CD"/>
                </a:solidFill>
              </a:defRPr>
            </a:lvl8pPr>
            <a:lvl9pPr>
              <a:defRPr sz="135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9CD"/>
                </a:solidFill>
              </a:defRPr>
            </a:pPr>
            <a:r>
              <a:rPr sz="1350" b="0">
                <a:solidFill>
                  <a:srgbClr val="A9B9CD"/>
                </a:solidFill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B1290-0017-4D25-AF5B-A0E65A9CEAAE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15340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58D4BA"/>
                          </a:solidFill>
                        </a:rPr>
                        <a:t>Part</a:t>
                      </a:r>
                    </a:p>
                  </a:txBody>
                  <a:tcPr marL="91440" marR="91440" marT="45720" marB="45720">
                    <a:solidFill>
                      <a:srgbClr val="20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58D4BA"/>
                          </a:solidFill>
                        </a:rPr>
                        <a:t>Recruitment question</a:t>
                      </a:r>
                    </a:p>
                  </a:txBody>
                  <a:tcPr marL="91440" marR="91440" marT="45720" marB="45720">
                    <a:solidFill>
                      <a:srgbClr val="20354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DF3FA"/>
                          </a:solidFill>
                        </a:rPr>
                        <a:t>1  Strategy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DF3FA"/>
                          </a:solidFill>
                        </a:rPr>
                        <a:t>Where should the search begin?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DF3FA"/>
                          </a:solidFill>
                        </a:rPr>
                        <a:t>2  Talent mapping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DF3FA"/>
                          </a:solidFill>
                        </a:rPr>
                        <a:t>Which backgrounds could meet the brief?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DF3FA"/>
                          </a:solidFill>
                        </a:rPr>
                        <a:t>3  Assessment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DF3FA"/>
                          </a:solidFill>
                        </a:rPr>
                        <a:t>What evidence and gaps need investigation?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DF3FA"/>
                          </a:solidFill>
                        </a:rPr>
                        <a:t>4  Pipeline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DF3FA"/>
                          </a:solidFill>
                        </a:rPr>
                        <a:t>Where do applications stand and why?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DF3FA"/>
                          </a:solidFill>
                        </a:rPr>
                        <a:t>5  Business case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DF3FA"/>
                          </a:solidFill>
                        </a:rPr>
                        <a:t>What would the first 90 days prioritise?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394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B94A2-A1F6-47A1-90B8-BF5D61B3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DF3FA"/>
                </a:solidFill>
              </a:defRPr>
            </a:defPPr>
            <a:lvl1pPr>
              <a:defRPr sz="3300" b="1">
                <a:solidFill>
                  <a:srgbClr val="EDF3FA"/>
                </a:solidFill>
              </a:defRPr>
            </a:lvl1pPr>
            <a:lvl2pPr>
              <a:defRPr sz="3300" b="1">
                <a:solidFill>
                  <a:srgbClr val="EDF3FA"/>
                </a:solidFill>
              </a:defRPr>
            </a:lvl2pPr>
            <a:lvl3pPr>
              <a:defRPr sz="3300" b="1">
                <a:solidFill>
                  <a:srgbClr val="EDF3FA"/>
                </a:solidFill>
              </a:defRPr>
            </a:lvl3pPr>
            <a:lvl4pPr>
              <a:defRPr sz="3300" b="1">
                <a:solidFill>
                  <a:srgbClr val="EDF3FA"/>
                </a:solidFill>
              </a:defRPr>
            </a:lvl4pPr>
            <a:lvl5pPr>
              <a:defRPr sz="3300" b="1">
                <a:solidFill>
                  <a:srgbClr val="EDF3FA"/>
                </a:solidFill>
              </a:defRPr>
            </a:lvl5pPr>
            <a:lvl6pPr>
              <a:defRPr sz="3300" b="1">
                <a:solidFill>
                  <a:srgbClr val="EDF3FA"/>
                </a:solidFill>
              </a:defRPr>
            </a:lvl6pPr>
            <a:lvl7pPr>
              <a:defRPr sz="3300" b="1">
                <a:solidFill>
                  <a:srgbClr val="EDF3FA"/>
                </a:solidFill>
              </a:defRPr>
            </a:lvl7pPr>
            <a:lvl8pPr>
              <a:defRPr sz="3300" b="1">
                <a:solidFill>
                  <a:srgbClr val="EDF3FA"/>
                </a:solidFill>
              </a:defRPr>
            </a:lvl8pPr>
            <a:lvl9pPr>
              <a:defRPr sz="33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DF3FA"/>
                </a:solidFill>
              </a:defRPr>
            </a:pPr>
            <a:r>
              <a:rPr sz="3300" b="1">
                <a:solidFill>
                  <a:srgbClr val="EDF3FA"/>
                </a:solidFill>
              </a:rPr>
              <a:t>An EMEA search starting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C5229-02B6-4463-BE3E-1DBDA8C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B9CD"/>
                </a:solidFill>
              </a:defRPr>
            </a:defPPr>
            <a:lvl1pPr>
              <a:defRPr sz="1350" b="0">
                <a:solidFill>
                  <a:srgbClr val="A9B9CD"/>
                </a:solidFill>
              </a:defRPr>
            </a:lvl1pPr>
            <a:lvl2pPr>
              <a:defRPr sz="1350" b="0">
                <a:solidFill>
                  <a:srgbClr val="A9B9CD"/>
                </a:solidFill>
              </a:defRPr>
            </a:lvl2pPr>
            <a:lvl3pPr>
              <a:defRPr sz="1350" b="0">
                <a:solidFill>
                  <a:srgbClr val="A9B9CD"/>
                </a:solidFill>
              </a:defRPr>
            </a:lvl3pPr>
            <a:lvl4pPr>
              <a:defRPr sz="1350" b="0">
                <a:solidFill>
                  <a:srgbClr val="A9B9CD"/>
                </a:solidFill>
              </a:defRPr>
            </a:lvl4pPr>
            <a:lvl5pPr>
              <a:defRPr sz="1350" b="0">
                <a:solidFill>
                  <a:srgbClr val="A9B9CD"/>
                </a:solidFill>
              </a:defRPr>
            </a:lvl5pPr>
            <a:lvl6pPr>
              <a:defRPr sz="1350" b="0">
                <a:solidFill>
                  <a:srgbClr val="A9B9CD"/>
                </a:solidFill>
              </a:defRPr>
            </a:lvl6pPr>
            <a:lvl7pPr>
              <a:defRPr sz="1350" b="0">
                <a:solidFill>
                  <a:srgbClr val="A9B9CD"/>
                </a:solidFill>
              </a:defRPr>
            </a:lvl7pPr>
            <a:lvl8pPr>
              <a:defRPr sz="1350" b="0">
                <a:solidFill>
                  <a:srgbClr val="A9B9CD"/>
                </a:solidFill>
              </a:defRPr>
            </a:lvl8pPr>
            <a:lvl9pPr>
              <a:defRPr sz="135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9CD"/>
                </a:solidFill>
              </a:defRPr>
            </a:pPr>
            <a:r>
              <a:rPr sz="1350" b="0">
                <a:solidFill>
                  <a:srgbClr val="A9B9C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027CF-C54A-4BF8-A34F-BF5E82BC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382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EDF3FA"/>
                </a:solidFill>
              </a:defRPr>
            </a:defPPr>
            <a:lvl1pPr>
              <a:defRPr sz="2250" b="0">
                <a:solidFill>
                  <a:srgbClr val="EDF3FA"/>
                </a:solidFill>
              </a:defRPr>
            </a:lvl1pPr>
            <a:lvl2pPr>
              <a:defRPr sz="2250" b="0">
                <a:solidFill>
                  <a:srgbClr val="EDF3FA"/>
                </a:solidFill>
              </a:defRPr>
            </a:lvl2pPr>
            <a:lvl3pPr>
              <a:defRPr sz="2250" b="0">
                <a:solidFill>
                  <a:srgbClr val="EDF3FA"/>
                </a:solidFill>
              </a:defRPr>
            </a:lvl3pPr>
            <a:lvl4pPr>
              <a:defRPr sz="2250" b="0">
                <a:solidFill>
                  <a:srgbClr val="EDF3FA"/>
                </a:solidFill>
              </a:defRPr>
            </a:lvl4pPr>
            <a:lvl5pPr>
              <a:defRPr sz="2250" b="0">
                <a:solidFill>
                  <a:srgbClr val="EDF3FA"/>
                </a:solidFill>
              </a:defRPr>
            </a:lvl5pPr>
            <a:lvl6pPr>
              <a:defRPr sz="2250" b="0">
                <a:solidFill>
                  <a:srgbClr val="EDF3FA"/>
                </a:solidFill>
              </a:defRPr>
            </a:lvl6pPr>
            <a:lvl7pPr>
              <a:defRPr sz="2250" b="0">
                <a:solidFill>
                  <a:srgbClr val="EDF3FA"/>
                </a:solidFill>
              </a:defRPr>
            </a:lvl7pPr>
            <a:lvl8pPr>
              <a:defRPr sz="2250" b="0">
                <a:solidFill>
                  <a:srgbClr val="EDF3FA"/>
                </a:solidFill>
              </a:defRPr>
            </a:lvl8pPr>
            <a:lvl9pPr>
              <a:defRPr sz="225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DF3FA"/>
                </a:solidFill>
              </a:defRPr>
            </a:pPr>
            <a:r>
              <a:rPr sz="2250" b="0">
                <a:solidFill>
                  <a:srgbClr val="EDF3FA"/>
                </a:solidFill>
              </a:rPr>
              <a:t>London: complex enterprise and sector selling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EDF3FA"/>
                </a:solidFill>
              </a:defRPr>
            </a:pPr>
            <a:r>
              <a:rPr sz="2250" b="0">
                <a:solidFill>
                  <a:srgbClr val="EDF3FA"/>
                </a:solidFill>
              </a:rPr>
              <a:t>Paris: financial services and automotive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EDF3FA"/>
                </a:solidFill>
              </a:defRPr>
            </a:pPr>
            <a:r>
              <a:rPr sz="2250" b="0">
                <a:solidFill>
                  <a:srgbClr val="EDF3FA"/>
                </a:solidFill>
              </a:rPr>
              <a:t>Munich: DACH customer adoption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EDF3FA"/>
                </a:solidFill>
              </a:defRPr>
            </a:pPr>
            <a:r>
              <a:rPr sz="2250" b="0">
                <a:solidFill>
                  <a:srgbClr val="EDF3FA"/>
                </a:solidFill>
              </a:rPr>
              <a:t>Dublin: startup and sales development role families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71A68-C6BF-4333-A22B-3429D2B5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B9CD"/>
                </a:solidFill>
              </a:defRPr>
            </a:defPPr>
            <a:lvl1pPr>
              <a:defRPr sz="1800" b="0">
                <a:solidFill>
                  <a:srgbClr val="A9B9CD"/>
                </a:solidFill>
              </a:defRPr>
            </a:lvl1pPr>
            <a:lvl2pPr>
              <a:defRPr sz="1800" b="0">
                <a:solidFill>
                  <a:srgbClr val="A9B9CD"/>
                </a:solidFill>
              </a:defRPr>
            </a:lvl2pPr>
            <a:lvl3pPr>
              <a:defRPr sz="1800" b="0">
                <a:solidFill>
                  <a:srgbClr val="A9B9CD"/>
                </a:solidFill>
              </a:defRPr>
            </a:lvl3pPr>
            <a:lvl4pPr>
              <a:defRPr sz="1800" b="0">
                <a:solidFill>
                  <a:srgbClr val="A9B9CD"/>
                </a:solidFill>
              </a:defRPr>
            </a:lvl4pPr>
            <a:lvl5pPr>
              <a:defRPr sz="1800" b="0">
                <a:solidFill>
                  <a:srgbClr val="A9B9CD"/>
                </a:solidFill>
              </a:defRPr>
            </a:lvl5pPr>
            <a:lvl6pPr>
              <a:defRPr sz="1800" b="0">
                <a:solidFill>
                  <a:srgbClr val="A9B9CD"/>
                </a:solidFill>
              </a:defRPr>
            </a:lvl6pPr>
            <a:lvl7pPr>
              <a:defRPr sz="1800" b="0">
                <a:solidFill>
                  <a:srgbClr val="A9B9CD"/>
                </a:solidFill>
              </a:defRPr>
            </a:lvl7pPr>
            <a:lvl8pPr>
              <a:defRPr sz="1800" b="0">
                <a:solidFill>
                  <a:srgbClr val="A9B9CD"/>
                </a:solidFill>
              </a:defRPr>
            </a:lvl8pPr>
            <a:lvl9pPr>
              <a:defRPr sz="180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9B9CD"/>
                </a:solidFill>
              </a:defRPr>
            </a:pPr>
            <a:r>
              <a:rPr sz="1800" b="0">
                <a:solidFill>
                  <a:srgbClr val="A9B9CD"/>
                </a:solidFill>
              </a:rPr>
              <a:t>These are dated vacancy examples. Supply, mobility and candidate interest still need validation.</a:t>
            </a:r>
          </a:p>
        </p:txBody>
      </p:sp>
    </p:spTree>
    <p:extLst>
      <p:ext uri="{BB962C8B-B14F-4D97-AF65-F5344CB8AC3E}">
        <p14:creationId xmlns:p14="http://schemas.microsoft.com/office/powerpoint/2010/main" val="4838729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476D6-ECE5-4AA7-ADD9-897B776E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DF3FA"/>
                </a:solidFill>
              </a:defRPr>
            </a:defPPr>
            <a:lvl1pPr>
              <a:defRPr sz="3300" b="1">
                <a:solidFill>
                  <a:srgbClr val="EDF3FA"/>
                </a:solidFill>
              </a:defRPr>
            </a:lvl1pPr>
            <a:lvl2pPr>
              <a:defRPr sz="3300" b="1">
                <a:solidFill>
                  <a:srgbClr val="EDF3FA"/>
                </a:solidFill>
              </a:defRPr>
            </a:lvl2pPr>
            <a:lvl3pPr>
              <a:defRPr sz="3300" b="1">
                <a:solidFill>
                  <a:srgbClr val="EDF3FA"/>
                </a:solidFill>
              </a:defRPr>
            </a:lvl3pPr>
            <a:lvl4pPr>
              <a:defRPr sz="3300" b="1">
                <a:solidFill>
                  <a:srgbClr val="EDF3FA"/>
                </a:solidFill>
              </a:defRPr>
            </a:lvl4pPr>
            <a:lvl5pPr>
              <a:defRPr sz="3300" b="1">
                <a:solidFill>
                  <a:srgbClr val="EDF3FA"/>
                </a:solidFill>
              </a:defRPr>
            </a:lvl5pPr>
            <a:lvl6pPr>
              <a:defRPr sz="3300" b="1">
                <a:solidFill>
                  <a:srgbClr val="EDF3FA"/>
                </a:solidFill>
              </a:defRPr>
            </a:lvl6pPr>
            <a:lvl7pPr>
              <a:defRPr sz="3300" b="1">
                <a:solidFill>
                  <a:srgbClr val="EDF3FA"/>
                </a:solidFill>
              </a:defRPr>
            </a:lvl7pPr>
            <a:lvl8pPr>
              <a:defRPr sz="3300" b="1">
                <a:solidFill>
                  <a:srgbClr val="EDF3FA"/>
                </a:solidFill>
              </a:defRPr>
            </a:lvl8pPr>
            <a:lvl9pPr>
              <a:defRPr sz="33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DF3FA"/>
                </a:solidFill>
              </a:defRPr>
            </a:pPr>
            <a:r>
              <a:rPr sz="3300" b="1">
                <a:solidFill>
                  <a:srgbClr val="EDF3FA"/>
                </a:solidFill>
              </a:rPr>
              <a:t>Assessment with evidence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C9BEB-05DA-4125-911F-2AC0F17E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B9CD"/>
                </a:solidFill>
              </a:defRPr>
            </a:defPPr>
            <a:lvl1pPr>
              <a:defRPr sz="1350" b="0">
                <a:solidFill>
                  <a:srgbClr val="A9B9CD"/>
                </a:solidFill>
              </a:defRPr>
            </a:lvl1pPr>
            <a:lvl2pPr>
              <a:defRPr sz="1350" b="0">
                <a:solidFill>
                  <a:srgbClr val="A9B9CD"/>
                </a:solidFill>
              </a:defRPr>
            </a:lvl2pPr>
            <a:lvl3pPr>
              <a:defRPr sz="1350" b="0">
                <a:solidFill>
                  <a:srgbClr val="A9B9CD"/>
                </a:solidFill>
              </a:defRPr>
            </a:lvl3pPr>
            <a:lvl4pPr>
              <a:defRPr sz="1350" b="0">
                <a:solidFill>
                  <a:srgbClr val="A9B9CD"/>
                </a:solidFill>
              </a:defRPr>
            </a:lvl4pPr>
            <a:lvl5pPr>
              <a:defRPr sz="1350" b="0">
                <a:solidFill>
                  <a:srgbClr val="A9B9CD"/>
                </a:solidFill>
              </a:defRPr>
            </a:lvl5pPr>
            <a:lvl6pPr>
              <a:defRPr sz="1350" b="0">
                <a:solidFill>
                  <a:srgbClr val="A9B9CD"/>
                </a:solidFill>
              </a:defRPr>
            </a:lvl6pPr>
            <a:lvl7pPr>
              <a:defRPr sz="1350" b="0">
                <a:solidFill>
                  <a:srgbClr val="A9B9CD"/>
                </a:solidFill>
              </a:defRPr>
            </a:lvl7pPr>
            <a:lvl8pPr>
              <a:defRPr sz="1350" b="0">
                <a:solidFill>
                  <a:srgbClr val="A9B9CD"/>
                </a:solidFill>
              </a:defRPr>
            </a:lvl8pPr>
            <a:lvl9pPr>
              <a:defRPr sz="135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9CD"/>
                </a:solidFill>
              </a:defRPr>
            </a:pPr>
            <a:r>
              <a:rPr sz="1350" b="0">
                <a:solidFill>
                  <a:srgbClr val="A9B9C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C1F3A-975B-44F4-94CD-DBD7BDAB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58D4BA"/>
                </a:solidFill>
              </a:defRPr>
            </a:defPPr>
            <a:lvl1pPr>
              <a:defRPr sz="2700" b="1">
                <a:solidFill>
                  <a:srgbClr val="58D4BA"/>
                </a:solidFill>
              </a:defRPr>
            </a:lvl1pPr>
            <a:lvl2pPr>
              <a:defRPr sz="2700" b="1">
                <a:solidFill>
                  <a:srgbClr val="58D4BA"/>
                </a:solidFill>
              </a:defRPr>
            </a:lvl2pPr>
            <a:lvl3pPr>
              <a:defRPr sz="2700" b="1">
                <a:solidFill>
                  <a:srgbClr val="58D4BA"/>
                </a:solidFill>
              </a:defRPr>
            </a:lvl3pPr>
            <a:lvl4pPr>
              <a:defRPr sz="2700" b="1">
                <a:solidFill>
                  <a:srgbClr val="58D4BA"/>
                </a:solidFill>
              </a:defRPr>
            </a:lvl4pPr>
            <a:lvl5pPr>
              <a:defRPr sz="2700" b="1">
                <a:solidFill>
                  <a:srgbClr val="58D4BA"/>
                </a:solidFill>
              </a:defRPr>
            </a:lvl5pPr>
            <a:lvl6pPr>
              <a:defRPr sz="2700" b="1">
                <a:solidFill>
                  <a:srgbClr val="58D4BA"/>
                </a:solidFill>
              </a:defRPr>
            </a:lvl6pPr>
            <a:lvl7pPr>
              <a:defRPr sz="2700" b="1">
                <a:solidFill>
                  <a:srgbClr val="58D4BA"/>
                </a:solidFill>
              </a:defRPr>
            </a:lvl7pPr>
            <a:lvl8pPr>
              <a:defRPr sz="2700" b="1">
                <a:solidFill>
                  <a:srgbClr val="58D4BA"/>
                </a:solidFill>
              </a:defRPr>
            </a:lvl8pPr>
            <a:lvl9pPr>
              <a:defRPr sz="2700" b="1">
                <a:solidFill>
                  <a:srgbClr val="58D4B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58D4BA"/>
                </a:solidFill>
              </a:defRPr>
            </a:pPr>
            <a:r>
              <a:rPr sz="2700" b="1">
                <a:solidFill>
                  <a:srgbClr val="58D4BA"/>
                </a:solidFill>
              </a:rPr>
              <a:t>A useful screen investigates what is missing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B30E8-7103-457B-B971-84200411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47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DF3FA"/>
                </a:solidFill>
              </a:defRPr>
            </a:defPPr>
            <a:lvl1pPr>
              <a:defRPr sz="2175" b="0">
                <a:solidFill>
                  <a:srgbClr val="EDF3FA"/>
                </a:solidFill>
              </a:defRPr>
            </a:lvl1pPr>
            <a:lvl2pPr>
              <a:defRPr sz="2175" b="0">
                <a:solidFill>
                  <a:srgbClr val="EDF3FA"/>
                </a:solidFill>
              </a:defRPr>
            </a:lvl2pPr>
            <a:lvl3pPr>
              <a:defRPr sz="2175" b="0">
                <a:solidFill>
                  <a:srgbClr val="EDF3FA"/>
                </a:solidFill>
              </a:defRPr>
            </a:lvl3pPr>
            <a:lvl4pPr>
              <a:defRPr sz="2175" b="0">
                <a:solidFill>
                  <a:srgbClr val="EDF3FA"/>
                </a:solidFill>
              </a:defRPr>
            </a:lvl4pPr>
            <a:lvl5pPr>
              <a:defRPr sz="2175" b="0">
                <a:solidFill>
                  <a:srgbClr val="EDF3FA"/>
                </a:solidFill>
              </a:defRPr>
            </a:lvl5pPr>
            <a:lvl6pPr>
              <a:defRPr sz="2175" b="0">
                <a:solidFill>
                  <a:srgbClr val="EDF3FA"/>
                </a:solidFill>
              </a:defRPr>
            </a:lvl6pPr>
            <a:lvl7pPr>
              <a:defRPr sz="2175" b="0">
                <a:solidFill>
                  <a:srgbClr val="EDF3FA"/>
                </a:solidFill>
              </a:defRPr>
            </a:lvl7pPr>
            <a:lvl8pPr>
              <a:defRPr sz="2175" b="0">
                <a:solidFill>
                  <a:srgbClr val="EDF3FA"/>
                </a:solidFill>
              </a:defRPr>
            </a:lvl8pPr>
            <a:lvl9pPr>
              <a:defRPr sz="2175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DF3FA"/>
                </a:solidFill>
              </a:defRPr>
            </a:pPr>
            <a:r>
              <a:rPr sz="2175" b="0">
                <a:solidFill>
                  <a:srgbClr val="EDF3FA"/>
                </a:solidFill>
              </a:rPr>
              <a:t>I investigate role-specific evidence gaps in a structured screen.</a:t>
            </a:r>
          </a:p>
          <a:p xmlns:a="http://schemas.openxmlformats.org/drawingml/2006/main">
            <a:pPr>
              <a:defRPr sz="2175" b="0">
                <a:solidFill>
                  <a:srgbClr val="EDF3FA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DF3FA"/>
                </a:solidFill>
              </a:defRPr>
            </a:pPr>
            <a:r>
              <a:rPr sz="2175" b="0">
                <a:solidFill>
                  <a:srgbClr val="EDF3FA"/>
                </a:solidFill>
              </a:rPr>
              <a:t>Competency tables expose the evidence behind each assessment.</a:t>
            </a:r>
          </a:p>
          <a:p xmlns:a="http://schemas.openxmlformats.org/drawingml/2006/main">
            <a:pPr>
              <a:defRPr sz="2175" b="0">
                <a:solidFill>
                  <a:srgbClr val="EDF3FA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DF3FA"/>
                </a:solidFill>
              </a:defRPr>
            </a:pPr>
            <a:r>
              <a:rPr sz="2175" b="0">
                <a:solidFill>
                  <a:srgbClr val="EDF3FA"/>
                </a:solidFill>
              </a:rPr>
              <a:t>Role-specific questions test contribution, context and trade-offs.</a:t>
            </a:r>
          </a:p>
          <a:p xmlns:a="http://schemas.openxmlformats.org/drawingml/2006/main">
            <a:pPr>
              <a:defRPr sz="2175" b="0">
                <a:solidFill>
                  <a:srgbClr val="EDF3FA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DF3FA"/>
                </a:solidFill>
              </a:defRPr>
            </a:pPr>
            <a:r>
              <a:rPr sz="2175" b="0">
                <a:solidFill>
                  <a:srgbClr val="EDF3FA"/>
                </a:solidFill>
              </a:rPr>
              <a:t>Human review controls progression and closure.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902D1-A3FA-4237-9564-10522E06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B9CD"/>
                </a:solidFill>
              </a:defRPr>
            </a:defPPr>
            <a:lvl1pPr>
              <a:defRPr sz="1800" b="0">
                <a:solidFill>
                  <a:srgbClr val="A9B9CD"/>
                </a:solidFill>
              </a:defRPr>
            </a:lvl1pPr>
            <a:lvl2pPr>
              <a:defRPr sz="1800" b="0">
                <a:solidFill>
                  <a:srgbClr val="A9B9CD"/>
                </a:solidFill>
              </a:defRPr>
            </a:lvl2pPr>
            <a:lvl3pPr>
              <a:defRPr sz="1800" b="0">
                <a:solidFill>
                  <a:srgbClr val="A9B9CD"/>
                </a:solidFill>
              </a:defRPr>
            </a:lvl3pPr>
            <a:lvl4pPr>
              <a:defRPr sz="1800" b="0">
                <a:solidFill>
                  <a:srgbClr val="A9B9CD"/>
                </a:solidFill>
              </a:defRPr>
            </a:lvl4pPr>
            <a:lvl5pPr>
              <a:defRPr sz="1800" b="0">
                <a:solidFill>
                  <a:srgbClr val="A9B9CD"/>
                </a:solidFill>
              </a:defRPr>
            </a:lvl5pPr>
            <a:lvl6pPr>
              <a:defRPr sz="1800" b="0">
                <a:solidFill>
                  <a:srgbClr val="A9B9CD"/>
                </a:solidFill>
              </a:defRPr>
            </a:lvl6pPr>
            <a:lvl7pPr>
              <a:defRPr sz="1800" b="0">
                <a:solidFill>
                  <a:srgbClr val="A9B9CD"/>
                </a:solidFill>
              </a:defRPr>
            </a:lvl7pPr>
            <a:lvl8pPr>
              <a:defRPr sz="1800" b="0">
                <a:solidFill>
                  <a:srgbClr val="A9B9CD"/>
                </a:solidFill>
              </a:defRPr>
            </a:lvl8pPr>
            <a:lvl9pPr>
              <a:defRPr sz="180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9B9CD"/>
                </a:solidFill>
              </a:defRPr>
            </a:pPr>
            <a:r>
              <a:rPr sz="1800" b="0">
                <a:solidFill>
                  <a:srgbClr val="A9B9CD"/>
                </a:solidFill>
              </a:rPr>
              <a:t>Equivalent experience and adjacent-sector capability require recruiter judgment.</a:t>
            </a:r>
          </a:p>
        </p:txBody>
      </p:sp>
    </p:spTree>
    <p:extLst>
      <p:ext uri="{BB962C8B-B14F-4D97-AF65-F5344CB8AC3E}">
        <p14:creationId xmlns:p14="http://schemas.microsoft.com/office/powerpoint/2010/main" val="4560416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86DC8-4489-4812-B73A-F27919A1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DF3FA"/>
                </a:solidFill>
              </a:defRPr>
            </a:defPPr>
            <a:lvl1pPr>
              <a:defRPr sz="3300" b="1">
                <a:solidFill>
                  <a:srgbClr val="EDF3FA"/>
                </a:solidFill>
              </a:defRPr>
            </a:lvl1pPr>
            <a:lvl2pPr>
              <a:defRPr sz="3300" b="1">
                <a:solidFill>
                  <a:srgbClr val="EDF3FA"/>
                </a:solidFill>
              </a:defRPr>
            </a:lvl2pPr>
            <a:lvl3pPr>
              <a:defRPr sz="3300" b="1">
                <a:solidFill>
                  <a:srgbClr val="EDF3FA"/>
                </a:solidFill>
              </a:defRPr>
            </a:lvl3pPr>
            <a:lvl4pPr>
              <a:defRPr sz="3300" b="1">
                <a:solidFill>
                  <a:srgbClr val="EDF3FA"/>
                </a:solidFill>
              </a:defRPr>
            </a:lvl4pPr>
            <a:lvl5pPr>
              <a:defRPr sz="3300" b="1">
                <a:solidFill>
                  <a:srgbClr val="EDF3FA"/>
                </a:solidFill>
              </a:defRPr>
            </a:lvl5pPr>
            <a:lvl6pPr>
              <a:defRPr sz="3300" b="1">
                <a:solidFill>
                  <a:srgbClr val="EDF3FA"/>
                </a:solidFill>
              </a:defRPr>
            </a:lvl6pPr>
            <a:lvl7pPr>
              <a:defRPr sz="3300" b="1">
                <a:solidFill>
                  <a:srgbClr val="EDF3FA"/>
                </a:solidFill>
              </a:defRPr>
            </a:lvl7pPr>
            <a:lvl8pPr>
              <a:defRPr sz="3300" b="1">
                <a:solidFill>
                  <a:srgbClr val="EDF3FA"/>
                </a:solidFill>
              </a:defRPr>
            </a:lvl8pPr>
            <a:lvl9pPr>
              <a:defRPr sz="33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DF3FA"/>
                </a:solidFill>
              </a:defRPr>
            </a:pPr>
            <a:r>
              <a:rPr sz="3300" b="1">
                <a:solidFill>
                  <a:srgbClr val="EDF3FA"/>
                </a:solidFill>
              </a:rPr>
              <a:t>A coherent simulated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30C28-A1F4-43B4-8D5E-47349629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B9CD"/>
                </a:solidFill>
              </a:defRPr>
            </a:defPPr>
            <a:lvl1pPr>
              <a:defRPr sz="1350" b="0">
                <a:solidFill>
                  <a:srgbClr val="A9B9CD"/>
                </a:solidFill>
              </a:defRPr>
            </a:lvl1pPr>
            <a:lvl2pPr>
              <a:defRPr sz="1350" b="0">
                <a:solidFill>
                  <a:srgbClr val="A9B9CD"/>
                </a:solidFill>
              </a:defRPr>
            </a:lvl2pPr>
            <a:lvl3pPr>
              <a:defRPr sz="1350" b="0">
                <a:solidFill>
                  <a:srgbClr val="A9B9CD"/>
                </a:solidFill>
              </a:defRPr>
            </a:lvl3pPr>
            <a:lvl4pPr>
              <a:defRPr sz="1350" b="0">
                <a:solidFill>
                  <a:srgbClr val="A9B9CD"/>
                </a:solidFill>
              </a:defRPr>
            </a:lvl4pPr>
            <a:lvl5pPr>
              <a:defRPr sz="1350" b="0">
                <a:solidFill>
                  <a:srgbClr val="A9B9CD"/>
                </a:solidFill>
              </a:defRPr>
            </a:lvl5pPr>
            <a:lvl6pPr>
              <a:defRPr sz="1350" b="0">
                <a:solidFill>
                  <a:srgbClr val="A9B9CD"/>
                </a:solidFill>
              </a:defRPr>
            </a:lvl6pPr>
            <a:lvl7pPr>
              <a:defRPr sz="1350" b="0">
                <a:solidFill>
                  <a:srgbClr val="A9B9CD"/>
                </a:solidFill>
              </a:defRPr>
            </a:lvl7pPr>
            <a:lvl8pPr>
              <a:defRPr sz="1350" b="0">
                <a:solidFill>
                  <a:srgbClr val="A9B9CD"/>
                </a:solidFill>
              </a:defRPr>
            </a:lvl8pPr>
            <a:lvl9pPr>
              <a:defRPr sz="135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9CD"/>
                </a:solidFill>
              </a:defRPr>
            </a:pPr>
            <a:r>
              <a:rPr sz="1350" b="0">
                <a:solidFill>
                  <a:srgbClr val="A9B9CD"/>
                </a:solidFill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CD6D1-E9EA-4C8B-90BB-889C681518C5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200400"/>
              </a:tblGrid>
              <a:tr h="555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DF3FA"/>
                          </a:solidFill>
                        </a:rPr>
                        <a:t>Mapped prospects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58D4BA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DF3FA"/>
                          </a:solidFill>
                        </a:rPr>
                        <a:t>Applications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58D4BA"/>
                          </a:solidFill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DF3FA"/>
                          </a:solidFill>
                        </a:rPr>
                        <a:t>Screened / shortlisted / interviewed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58D4BA"/>
                          </a:solidFill>
                        </a:rPr>
                        <a:t>24 / 16 / 10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DF3FA"/>
                          </a:solidFill>
                        </a:rPr>
                        <a:t>Offers extended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58D4B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DF3FA"/>
                          </a:solidFill>
                        </a:rPr>
                        <a:t>Accepted / declined / pending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58D4BA"/>
                          </a:solidFill>
                        </a:rPr>
                        <a:t>4 / 1 / 1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DF3FA"/>
                          </a:solidFill>
                        </a:rPr>
                        <a:t>Open vacancies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58D4BA"/>
                          </a:solidFill>
                        </a:rPr>
                        <a:t>1 of 5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581E1-B6A3-4439-9F72-2B75AF15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9B9CD"/>
                </a:solidFill>
              </a:defRPr>
            </a:defPPr>
            <a:lvl1pPr>
              <a:defRPr sz="1875" b="0">
                <a:solidFill>
                  <a:srgbClr val="A9B9CD"/>
                </a:solidFill>
              </a:defRPr>
            </a:lvl1pPr>
            <a:lvl2pPr>
              <a:defRPr sz="1875" b="0">
                <a:solidFill>
                  <a:srgbClr val="A9B9CD"/>
                </a:solidFill>
              </a:defRPr>
            </a:lvl2pPr>
            <a:lvl3pPr>
              <a:defRPr sz="1875" b="0">
                <a:solidFill>
                  <a:srgbClr val="A9B9CD"/>
                </a:solidFill>
              </a:defRPr>
            </a:lvl3pPr>
            <a:lvl4pPr>
              <a:defRPr sz="1875" b="0">
                <a:solidFill>
                  <a:srgbClr val="A9B9CD"/>
                </a:solidFill>
              </a:defRPr>
            </a:lvl4pPr>
            <a:lvl5pPr>
              <a:defRPr sz="1875" b="0">
                <a:solidFill>
                  <a:srgbClr val="A9B9CD"/>
                </a:solidFill>
              </a:defRPr>
            </a:lvl5pPr>
            <a:lvl6pPr>
              <a:defRPr sz="1875" b="0">
                <a:solidFill>
                  <a:srgbClr val="A9B9CD"/>
                </a:solidFill>
              </a:defRPr>
            </a:lvl6pPr>
            <a:lvl7pPr>
              <a:defRPr sz="1875" b="0">
                <a:solidFill>
                  <a:srgbClr val="A9B9CD"/>
                </a:solidFill>
              </a:defRPr>
            </a:lvl7pPr>
            <a:lvl8pPr>
              <a:defRPr sz="1875" b="0">
                <a:solidFill>
                  <a:srgbClr val="A9B9CD"/>
                </a:solidFill>
              </a:defRPr>
            </a:lvl8pPr>
            <a:lvl9pPr>
              <a:defRPr sz="1875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9B9CD"/>
                </a:solidFill>
              </a:defRPr>
            </a:pPr>
            <a:r>
              <a:rPr sz="1875" b="0">
                <a:solidFill>
                  <a:srgbClr val="A9B9CD"/>
                </a:solidFill>
              </a:rPr>
              <a:t>Pending decisions remain separate from final offer outcomes.</a:t>
            </a:r>
          </a:p>
        </p:txBody>
      </p:sp>
    </p:spTree>
    <p:extLst>
      <p:ext uri="{BB962C8B-B14F-4D97-AF65-F5344CB8AC3E}">
        <p14:creationId xmlns:p14="http://schemas.microsoft.com/office/powerpoint/2010/main" val="10160479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AF785-5131-4749-A517-A81848D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DF3FA"/>
                </a:solidFill>
              </a:defRPr>
            </a:defPPr>
            <a:lvl1pPr>
              <a:defRPr sz="3300" b="1">
                <a:solidFill>
                  <a:srgbClr val="EDF3FA"/>
                </a:solidFill>
              </a:defRPr>
            </a:lvl1pPr>
            <a:lvl2pPr>
              <a:defRPr sz="3300" b="1">
                <a:solidFill>
                  <a:srgbClr val="EDF3FA"/>
                </a:solidFill>
              </a:defRPr>
            </a:lvl2pPr>
            <a:lvl3pPr>
              <a:defRPr sz="3300" b="1">
                <a:solidFill>
                  <a:srgbClr val="EDF3FA"/>
                </a:solidFill>
              </a:defRPr>
            </a:lvl3pPr>
            <a:lvl4pPr>
              <a:defRPr sz="3300" b="1">
                <a:solidFill>
                  <a:srgbClr val="EDF3FA"/>
                </a:solidFill>
              </a:defRPr>
            </a:lvl4pPr>
            <a:lvl5pPr>
              <a:defRPr sz="3300" b="1">
                <a:solidFill>
                  <a:srgbClr val="EDF3FA"/>
                </a:solidFill>
              </a:defRPr>
            </a:lvl5pPr>
            <a:lvl6pPr>
              <a:defRPr sz="3300" b="1">
                <a:solidFill>
                  <a:srgbClr val="EDF3FA"/>
                </a:solidFill>
              </a:defRPr>
            </a:lvl6pPr>
            <a:lvl7pPr>
              <a:defRPr sz="3300" b="1">
                <a:solidFill>
                  <a:srgbClr val="EDF3FA"/>
                </a:solidFill>
              </a:defRPr>
            </a:lvl7pPr>
            <a:lvl8pPr>
              <a:defRPr sz="3300" b="1">
                <a:solidFill>
                  <a:srgbClr val="EDF3FA"/>
                </a:solidFill>
              </a:defRPr>
            </a:lvl8pPr>
            <a:lvl9pPr>
              <a:defRPr sz="33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DF3FA"/>
                </a:solidFill>
              </a:defRPr>
            </a:pPr>
            <a:r>
              <a:rPr sz="3300" b="1">
                <a:solidFill>
                  <a:srgbClr val="EDF3FA"/>
                </a:solidFill>
              </a:rPr>
              <a:t>The first 90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81B0C-0DC6-40A5-8A67-957816E5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B9CD"/>
                </a:solidFill>
              </a:defRPr>
            </a:defPPr>
            <a:lvl1pPr>
              <a:defRPr sz="1350" b="0">
                <a:solidFill>
                  <a:srgbClr val="A9B9CD"/>
                </a:solidFill>
              </a:defRPr>
            </a:lvl1pPr>
            <a:lvl2pPr>
              <a:defRPr sz="1350" b="0">
                <a:solidFill>
                  <a:srgbClr val="A9B9CD"/>
                </a:solidFill>
              </a:defRPr>
            </a:lvl2pPr>
            <a:lvl3pPr>
              <a:defRPr sz="1350" b="0">
                <a:solidFill>
                  <a:srgbClr val="A9B9CD"/>
                </a:solidFill>
              </a:defRPr>
            </a:lvl3pPr>
            <a:lvl4pPr>
              <a:defRPr sz="1350" b="0">
                <a:solidFill>
                  <a:srgbClr val="A9B9CD"/>
                </a:solidFill>
              </a:defRPr>
            </a:lvl4pPr>
            <a:lvl5pPr>
              <a:defRPr sz="1350" b="0">
                <a:solidFill>
                  <a:srgbClr val="A9B9CD"/>
                </a:solidFill>
              </a:defRPr>
            </a:lvl5pPr>
            <a:lvl6pPr>
              <a:defRPr sz="1350" b="0">
                <a:solidFill>
                  <a:srgbClr val="A9B9CD"/>
                </a:solidFill>
              </a:defRPr>
            </a:lvl6pPr>
            <a:lvl7pPr>
              <a:defRPr sz="1350" b="0">
                <a:solidFill>
                  <a:srgbClr val="A9B9CD"/>
                </a:solidFill>
              </a:defRPr>
            </a:lvl7pPr>
            <a:lvl8pPr>
              <a:defRPr sz="1350" b="0">
                <a:solidFill>
                  <a:srgbClr val="A9B9CD"/>
                </a:solidFill>
              </a:defRPr>
            </a:lvl8pPr>
            <a:lvl9pPr>
              <a:defRPr sz="135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9CD"/>
                </a:solidFill>
              </a:defRPr>
            </a:pPr>
            <a:r>
              <a:rPr sz="1350" b="0">
                <a:solidFill>
                  <a:srgbClr val="A9B9C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941A2-B5FB-425C-BD7D-E3AFAC03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58D4BA"/>
                </a:solidFill>
              </a:defRPr>
            </a:defPPr>
            <a:lvl1pPr>
              <a:defRPr sz="2400" b="1">
                <a:solidFill>
                  <a:srgbClr val="58D4BA"/>
                </a:solidFill>
              </a:defRPr>
            </a:lvl1pPr>
            <a:lvl2pPr>
              <a:defRPr sz="2400" b="1">
                <a:solidFill>
                  <a:srgbClr val="58D4BA"/>
                </a:solidFill>
              </a:defRPr>
            </a:lvl2pPr>
            <a:lvl3pPr>
              <a:defRPr sz="2400" b="1">
                <a:solidFill>
                  <a:srgbClr val="58D4BA"/>
                </a:solidFill>
              </a:defRPr>
            </a:lvl3pPr>
            <a:lvl4pPr>
              <a:defRPr sz="2400" b="1">
                <a:solidFill>
                  <a:srgbClr val="58D4BA"/>
                </a:solidFill>
              </a:defRPr>
            </a:lvl4pPr>
            <a:lvl5pPr>
              <a:defRPr sz="2400" b="1">
                <a:solidFill>
                  <a:srgbClr val="58D4BA"/>
                </a:solidFill>
              </a:defRPr>
            </a:lvl5pPr>
            <a:lvl6pPr>
              <a:defRPr sz="2400" b="1">
                <a:solidFill>
                  <a:srgbClr val="58D4BA"/>
                </a:solidFill>
              </a:defRPr>
            </a:lvl6pPr>
            <a:lvl7pPr>
              <a:defRPr sz="2400" b="1">
                <a:solidFill>
                  <a:srgbClr val="58D4BA"/>
                </a:solidFill>
              </a:defRPr>
            </a:lvl7pPr>
            <a:lvl8pPr>
              <a:defRPr sz="2400" b="1">
                <a:solidFill>
                  <a:srgbClr val="58D4BA"/>
                </a:solidFill>
              </a:defRPr>
            </a:lvl8pPr>
            <a:lvl9pPr>
              <a:defRPr sz="2400" b="1">
                <a:solidFill>
                  <a:srgbClr val="58D4B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58D4BA"/>
                </a:solidFill>
              </a:defRPr>
            </a:pPr>
            <a:r>
              <a:rPr sz="2400" b="1">
                <a:solidFill>
                  <a:srgbClr val="58D4BA"/>
                </a:solidFill>
              </a:rPr>
              <a:t>Days 1–30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73B11-4E9D-4F9C-8BEF-5EB5DE60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DF3FA"/>
                </a:solidFill>
              </a:defRPr>
            </a:defPPr>
            <a:lvl1pPr>
              <a:defRPr sz="2100" b="0">
                <a:solidFill>
                  <a:srgbClr val="EDF3FA"/>
                </a:solidFill>
              </a:defRPr>
            </a:lvl1pPr>
            <a:lvl2pPr>
              <a:defRPr sz="2100" b="0">
                <a:solidFill>
                  <a:srgbClr val="EDF3FA"/>
                </a:solidFill>
              </a:defRPr>
            </a:lvl2pPr>
            <a:lvl3pPr>
              <a:defRPr sz="2100" b="0">
                <a:solidFill>
                  <a:srgbClr val="EDF3FA"/>
                </a:solidFill>
              </a:defRPr>
            </a:lvl3pPr>
            <a:lvl4pPr>
              <a:defRPr sz="2100" b="0">
                <a:solidFill>
                  <a:srgbClr val="EDF3FA"/>
                </a:solidFill>
              </a:defRPr>
            </a:lvl4pPr>
            <a:lvl5pPr>
              <a:defRPr sz="2100" b="0">
                <a:solidFill>
                  <a:srgbClr val="EDF3FA"/>
                </a:solidFill>
              </a:defRPr>
            </a:lvl5pPr>
            <a:lvl6pPr>
              <a:defRPr sz="2100" b="0">
                <a:solidFill>
                  <a:srgbClr val="EDF3FA"/>
                </a:solidFill>
              </a:defRPr>
            </a:lvl6pPr>
            <a:lvl7pPr>
              <a:defRPr sz="2100" b="0">
                <a:solidFill>
                  <a:srgbClr val="EDF3FA"/>
                </a:solidFill>
              </a:defRPr>
            </a:lvl7pPr>
            <a:lvl8pPr>
              <a:defRPr sz="2100" b="0">
                <a:solidFill>
                  <a:srgbClr val="EDF3FA"/>
                </a:solidFill>
              </a:defRPr>
            </a:lvl8pPr>
            <a:lvl9pPr>
              <a:defRPr sz="210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Learn the business.</a:t>
            </a:r>
          </a:p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Agree search priorities and evidence standards.</a:t>
            </a:r>
          </a:p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Establish the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A79B7-2824-4630-A525-7B94C4DE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58D4BA"/>
                </a:solidFill>
              </a:defRPr>
            </a:defPPr>
            <a:lvl1pPr>
              <a:defRPr sz="2400" b="1">
                <a:solidFill>
                  <a:srgbClr val="58D4BA"/>
                </a:solidFill>
              </a:defRPr>
            </a:lvl1pPr>
            <a:lvl2pPr>
              <a:defRPr sz="2400" b="1">
                <a:solidFill>
                  <a:srgbClr val="58D4BA"/>
                </a:solidFill>
              </a:defRPr>
            </a:lvl2pPr>
            <a:lvl3pPr>
              <a:defRPr sz="2400" b="1">
                <a:solidFill>
                  <a:srgbClr val="58D4BA"/>
                </a:solidFill>
              </a:defRPr>
            </a:lvl3pPr>
            <a:lvl4pPr>
              <a:defRPr sz="2400" b="1">
                <a:solidFill>
                  <a:srgbClr val="58D4BA"/>
                </a:solidFill>
              </a:defRPr>
            </a:lvl4pPr>
            <a:lvl5pPr>
              <a:defRPr sz="2400" b="1">
                <a:solidFill>
                  <a:srgbClr val="58D4BA"/>
                </a:solidFill>
              </a:defRPr>
            </a:lvl5pPr>
            <a:lvl6pPr>
              <a:defRPr sz="2400" b="1">
                <a:solidFill>
                  <a:srgbClr val="58D4BA"/>
                </a:solidFill>
              </a:defRPr>
            </a:lvl6pPr>
            <a:lvl7pPr>
              <a:defRPr sz="2400" b="1">
                <a:solidFill>
                  <a:srgbClr val="58D4BA"/>
                </a:solidFill>
              </a:defRPr>
            </a:lvl7pPr>
            <a:lvl8pPr>
              <a:defRPr sz="2400" b="1">
                <a:solidFill>
                  <a:srgbClr val="58D4BA"/>
                </a:solidFill>
              </a:defRPr>
            </a:lvl8pPr>
            <a:lvl9pPr>
              <a:defRPr sz="2400" b="1">
                <a:solidFill>
                  <a:srgbClr val="58D4B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58D4BA"/>
                </a:solidFill>
              </a:defRPr>
            </a:pPr>
            <a:r>
              <a:rPr sz="2400" b="1">
                <a:solidFill>
                  <a:srgbClr val="58D4BA"/>
                </a:solidFill>
              </a:rPr>
              <a:t>Days 31–60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6E961-4CD2-4113-80E4-A017A7D3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9875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DF3FA"/>
                </a:solidFill>
              </a:defRPr>
            </a:defPPr>
            <a:lvl1pPr>
              <a:defRPr sz="2100" b="0">
                <a:solidFill>
                  <a:srgbClr val="EDF3FA"/>
                </a:solidFill>
              </a:defRPr>
            </a:lvl1pPr>
            <a:lvl2pPr>
              <a:defRPr sz="2100" b="0">
                <a:solidFill>
                  <a:srgbClr val="EDF3FA"/>
                </a:solidFill>
              </a:defRPr>
            </a:lvl2pPr>
            <a:lvl3pPr>
              <a:defRPr sz="2100" b="0">
                <a:solidFill>
                  <a:srgbClr val="EDF3FA"/>
                </a:solidFill>
              </a:defRPr>
            </a:lvl3pPr>
            <a:lvl4pPr>
              <a:defRPr sz="2100" b="0">
                <a:solidFill>
                  <a:srgbClr val="EDF3FA"/>
                </a:solidFill>
              </a:defRPr>
            </a:lvl4pPr>
            <a:lvl5pPr>
              <a:defRPr sz="2100" b="0">
                <a:solidFill>
                  <a:srgbClr val="EDF3FA"/>
                </a:solidFill>
              </a:defRPr>
            </a:lvl5pPr>
            <a:lvl6pPr>
              <a:defRPr sz="2100" b="0">
                <a:solidFill>
                  <a:srgbClr val="EDF3FA"/>
                </a:solidFill>
              </a:defRPr>
            </a:lvl6pPr>
            <a:lvl7pPr>
              <a:defRPr sz="2100" b="0">
                <a:solidFill>
                  <a:srgbClr val="EDF3FA"/>
                </a:solidFill>
              </a:defRPr>
            </a:lvl7pPr>
            <a:lvl8pPr>
              <a:defRPr sz="2100" b="0">
                <a:solidFill>
                  <a:srgbClr val="EDF3FA"/>
                </a:solidFill>
              </a:defRPr>
            </a:lvl8pPr>
            <a:lvl9pPr>
              <a:defRPr sz="210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Validate market maps.</a:t>
            </a:r>
          </a:p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Test outreach.</a:t>
            </a:r>
          </a:p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Run structured screens and manager reviews.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84A78-98C4-4C60-9F54-771F8C9D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58D4BA"/>
                </a:solidFill>
              </a:defRPr>
            </a:defPPr>
            <a:lvl1pPr>
              <a:defRPr sz="2400" b="1">
                <a:solidFill>
                  <a:srgbClr val="58D4BA"/>
                </a:solidFill>
              </a:defRPr>
            </a:lvl1pPr>
            <a:lvl2pPr>
              <a:defRPr sz="2400" b="1">
                <a:solidFill>
                  <a:srgbClr val="58D4BA"/>
                </a:solidFill>
              </a:defRPr>
            </a:lvl2pPr>
            <a:lvl3pPr>
              <a:defRPr sz="2400" b="1">
                <a:solidFill>
                  <a:srgbClr val="58D4BA"/>
                </a:solidFill>
              </a:defRPr>
            </a:lvl3pPr>
            <a:lvl4pPr>
              <a:defRPr sz="2400" b="1">
                <a:solidFill>
                  <a:srgbClr val="58D4BA"/>
                </a:solidFill>
              </a:defRPr>
            </a:lvl4pPr>
            <a:lvl5pPr>
              <a:defRPr sz="2400" b="1">
                <a:solidFill>
                  <a:srgbClr val="58D4BA"/>
                </a:solidFill>
              </a:defRPr>
            </a:lvl5pPr>
            <a:lvl6pPr>
              <a:defRPr sz="2400" b="1">
                <a:solidFill>
                  <a:srgbClr val="58D4BA"/>
                </a:solidFill>
              </a:defRPr>
            </a:lvl6pPr>
            <a:lvl7pPr>
              <a:defRPr sz="2400" b="1">
                <a:solidFill>
                  <a:srgbClr val="58D4BA"/>
                </a:solidFill>
              </a:defRPr>
            </a:lvl7pPr>
            <a:lvl8pPr>
              <a:defRPr sz="2400" b="1">
                <a:solidFill>
                  <a:srgbClr val="58D4BA"/>
                </a:solidFill>
              </a:defRPr>
            </a:lvl8pPr>
            <a:lvl9pPr>
              <a:defRPr sz="2400" b="1">
                <a:solidFill>
                  <a:srgbClr val="58D4B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58D4BA"/>
                </a:solidFill>
              </a:defRPr>
            </a:pPr>
            <a:r>
              <a:rPr sz="2400" b="1">
                <a:solidFill>
                  <a:srgbClr val="58D4BA"/>
                </a:solidFill>
              </a:rPr>
              <a:t>Days 61–90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35E96-8989-49B1-B57F-48B47D39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9875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DF3FA"/>
                </a:solidFill>
              </a:defRPr>
            </a:defPPr>
            <a:lvl1pPr>
              <a:defRPr sz="2100" b="0">
                <a:solidFill>
                  <a:srgbClr val="EDF3FA"/>
                </a:solidFill>
              </a:defRPr>
            </a:lvl1pPr>
            <a:lvl2pPr>
              <a:defRPr sz="2100" b="0">
                <a:solidFill>
                  <a:srgbClr val="EDF3FA"/>
                </a:solidFill>
              </a:defRPr>
            </a:lvl2pPr>
            <a:lvl3pPr>
              <a:defRPr sz="2100" b="0">
                <a:solidFill>
                  <a:srgbClr val="EDF3FA"/>
                </a:solidFill>
              </a:defRPr>
            </a:lvl3pPr>
            <a:lvl4pPr>
              <a:defRPr sz="2100" b="0">
                <a:solidFill>
                  <a:srgbClr val="EDF3FA"/>
                </a:solidFill>
              </a:defRPr>
            </a:lvl4pPr>
            <a:lvl5pPr>
              <a:defRPr sz="2100" b="0">
                <a:solidFill>
                  <a:srgbClr val="EDF3FA"/>
                </a:solidFill>
              </a:defRPr>
            </a:lvl5pPr>
            <a:lvl6pPr>
              <a:defRPr sz="2100" b="0">
                <a:solidFill>
                  <a:srgbClr val="EDF3FA"/>
                </a:solidFill>
              </a:defRPr>
            </a:lvl6pPr>
            <a:lvl7pPr>
              <a:defRPr sz="2100" b="0">
                <a:solidFill>
                  <a:srgbClr val="EDF3FA"/>
                </a:solidFill>
              </a:defRPr>
            </a:lvl7pPr>
            <a:lvl8pPr>
              <a:defRPr sz="2100" b="0">
                <a:solidFill>
                  <a:srgbClr val="EDF3FA"/>
                </a:solidFill>
              </a:defRPr>
            </a:lvl8pPr>
            <a:lvl9pPr>
              <a:defRPr sz="210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Refine sourcing allocation.</a:t>
            </a:r>
          </a:p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Support closing.</a:t>
            </a:r>
          </a:p>
          <a:p xmlns:a="http://schemas.openxmlformats.org/drawingml/2006/main">
            <a:pPr>
              <a:defRPr sz="2100" b="0">
                <a:solidFill>
                  <a:srgbClr val="EDF3FA"/>
                </a:solidFill>
              </a:defRPr>
            </a:pPr>
            <a:r>
              <a:rPr sz="2100" b="0">
                <a:solidFill>
                  <a:srgbClr val="EDF3FA"/>
                </a:solidFill>
              </a:rPr>
              <a:t>Agree the next search priorities.</a:t>
            </a:r>
          </a:p>
        </p:txBody>
      </p:sp>
    </p:spTree>
    <p:extLst>
      <p:ext uri="{BB962C8B-B14F-4D97-AF65-F5344CB8AC3E}">
        <p14:creationId xmlns:p14="http://schemas.microsoft.com/office/powerpoint/2010/main" val="7772644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27BA4-2279-4C6C-93FB-DD9829D4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DF3FA"/>
                </a:solidFill>
              </a:defRPr>
            </a:defPPr>
            <a:lvl1pPr>
              <a:defRPr sz="3300" b="1">
                <a:solidFill>
                  <a:srgbClr val="EDF3FA"/>
                </a:solidFill>
              </a:defRPr>
            </a:lvl1pPr>
            <a:lvl2pPr>
              <a:defRPr sz="3300" b="1">
                <a:solidFill>
                  <a:srgbClr val="EDF3FA"/>
                </a:solidFill>
              </a:defRPr>
            </a:lvl2pPr>
            <a:lvl3pPr>
              <a:defRPr sz="3300" b="1">
                <a:solidFill>
                  <a:srgbClr val="EDF3FA"/>
                </a:solidFill>
              </a:defRPr>
            </a:lvl3pPr>
            <a:lvl4pPr>
              <a:defRPr sz="3300" b="1">
                <a:solidFill>
                  <a:srgbClr val="EDF3FA"/>
                </a:solidFill>
              </a:defRPr>
            </a:lvl4pPr>
            <a:lvl5pPr>
              <a:defRPr sz="3300" b="1">
                <a:solidFill>
                  <a:srgbClr val="EDF3FA"/>
                </a:solidFill>
              </a:defRPr>
            </a:lvl5pPr>
            <a:lvl6pPr>
              <a:defRPr sz="3300" b="1">
                <a:solidFill>
                  <a:srgbClr val="EDF3FA"/>
                </a:solidFill>
              </a:defRPr>
            </a:lvl6pPr>
            <a:lvl7pPr>
              <a:defRPr sz="3300" b="1">
                <a:solidFill>
                  <a:srgbClr val="EDF3FA"/>
                </a:solidFill>
              </a:defRPr>
            </a:lvl7pPr>
            <a:lvl8pPr>
              <a:defRPr sz="3300" b="1">
                <a:solidFill>
                  <a:srgbClr val="EDF3FA"/>
                </a:solidFill>
              </a:defRPr>
            </a:lvl8pPr>
            <a:lvl9pPr>
              <a:defRPr sz="33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DF3FA"/>
                </a:solidFill>
              </a:defRPr>
            </a:pPr>
            <a:r>
              <a:rPr sz="3300" b="1">
                <a:solidFill>
                  <a:srgbClr val="EDF3FA"/>
                </a:solidFill>
              </a:rPr>
              <a:t>Human oversight and responsible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7F9D0-F672-4572-8DBC-76A22310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B9CD"/>
                </a:solidFill>
              </a:defRPr>
            </a:defPPr>
            <a:lvl1pPr>
              <a:defRPr sz="1350" b="0">
                <a:solidFill>
                  <a:srgbClr val="A9B9CD"/>
                </a:solidFill>
              </a:defRPr>
            </a:lvl1pPr>
            <a:lvl2pPr>
              <a:defRPr sz="1350" b="0">
                <a:solidFill>
                  <a:srgbClr val="A9B9CD"/>
                </a:solidFill>
              </a:defRPr>
            </a:lvl2pPr>
            <a:lvl3pPr>
              <a:defRPr sz="1350" b="0">
                <a:solidFill>
                  <a:srgbClr val="A9B9CD"/>
                </a:solidFill>
              </a:defRPr>
            </a:lvl3pPr>
            <a:lvl4pPr>
              <a:defRPr sz="1350" b="0">
                <a:solidFill>
                  <a:srgbClr val="A9B9CD"/>
                </a:solidFill>
              </a:defRPr>
            </a:lvl4pPr>
            <a:lvl5pPr>
              <a:defRPr sz="1350" b="0">
                <a:solidFill>
                  <a:srgbClr val="A9B9CD"/>
                </a:solidFill>
              </a:defRPr>
            </a:lvl5pPr>
            <a:lvl6pPr>
              <a:defRPr sz="1350" b="0">
                <a:solidFill>
                  <a:srgbClr val="A9B9CD"/>
                </a:solidFill>
              </a:defRPr>
            </a:lvl6pPr>
            <a:lvl7pPr>
              <a:defRPr sz="1350" b="0">
                <a:solidFill>
                  <a:srgbClr val="A9B9CD"/>
                </a:solidFill>
              </a:defRPr>
            </a:lvl7pPr>
            <a:lvl8pPr>
              <a:defRPr sz="1350" b="0">
                <a:solidFill>
                  <a:srgbClr val="A9B9CD"/>
                </a:solidFill>
              </a:defRPr>
            </a:lvl8pPr>
            <a:lvl9pPr>
              <a:defRPr sz="135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9CD"/>
                </a:solidFill>
              </a:defRPr>
            </a:pPr>
            <a:r>
              <a:rPr sz="1350" b="0">
                <a:solidFill>
                  <a:srgbClr val="A9B9C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AEC1F-9B06-4A18-9EBA-E0510AB4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58D4BA"/>
                </a:solidFill>
              </a:defRPr>
            </a:defPPr>
            <a:lvl1pPr>
              <a:defRPr sz="2700" b="1">
                <a:solidFill>
                  <a:srgbClr val="58D4BA"/>
                </a:solidFill>
              </a:defRPr>
            </a:lvl1pPr>
            <a:lvl2pPr>
              <a:defRPr sz="2700" b="1">
                <a:solidFill>
                  <a:srgbClr val="58D4BA"/>
                </a:solidFill>
              </a:defRPr>
            </a:lvl2pPr>
            <a:lvl3pPr>
              <a:defRPr sz="2700" b="1">
                <a:solidFill>
                  <a:srgbClr val="58D4BA"/>
                </a:solidFill>
              </a:defRPr>
            </a:lvl3pPr>
            <a:lvl4pPr>
              <a:defRPr sz="2700" b="1">
                <a:solidFill>
                  <a:srgbClr val="58D4BA"/>
                </a:solidFill>
              </a:defRPr>
            </a:lvl4pPr>
            <a:lvl5pPr>
              <a:defRPr sz="2700" b="1">
                <a:solidFill>
                  <a:srgbClr val="58D4BA"/>
                </a:solidFill>
              </a:defRPr>
            </a:lvl5pPr>
            <a:lvl6pPr>
              <a:defRPr sz="2700" b="1">
                <a:solidFill>
                  <a:srgbClr val="58D4BA"/>
                </a:solidFill>
              </a:defRPr>
            </a:lvl6pPr>
            <a:lvl7pPr>
              <a:defRPr sz="2700" b="1">
                <a:solidFill>
                  <a:srgbClr val="58D4BA"/>
                </a:solidFill>
              </a:defRPr>
            </a:lvl7pPr>
            <a:lvl8pPr>
              <a:defRPr sz="2700" b="1">
                <a:solidFill>
                  <a:srgbClr val="58D4BA"/>
                </a:solidFill>
              </a:defRPr>
            </a:lvl8pPr>
            <a:lvl9pPr>
              <a:defRPr sz="2700" b="1">
                <a:solidFill>
                  <a:srgbClr val="58D4B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58D4BA"/>
                </a:solidFill>
              </a:defRPr>
            </a:pPr>
            <a:r>
              <a:rPr sz="2700" b="1">
                <a:solidFill>
                  <a:srgbClr val="58D4BA"/>
                </a:solidFill>
              </a:rPr>
              <a:t>Recruiter decisions remain accountable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5CC30-968E-41FB-ACDF-F073CE8E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47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DF3FA"/>
                </a:solidFill>
              </a:defRPr>
            </a:defPPr>
            <a:lvl1pPr>
              <a:defRPr sz="2175" b="0">
                <a:solidFill>
                  <a:srgbClr val="EDF3FA"/>
                </a:solidFill>
              </a:defRPr>
            </a:lvl1pPr>
            <a:lvl2pPr>
              <a:defRPr sz="2175" b="0">
                <a:solidFill>
                  <a:srgbClr val="EDF3FA"/>
                </a:solidFill>
              </a:defRPr>
            </a:lvl2pPr>
            <a:lvl3pPr>
              <a:defRPr sz="2175" b="0">
                <a:solidFill>
                  <a:srgbClr val="EDF3FA"/>
                </a:solidFill>
              </a:defRPr>
            </a:lvl3pPr>
            <a:lvl4pPr>
              <a:defRPr sz="2175" b="0">
                <a:solidFill>
                  <a:srgbClr val="EDF3FA"/>
                </a:solidFill>
              </a:defRPr>
            </a:lvl4pPr>
            <a:lvl5pPr>
              <a:defRPr sz="2175" b="0">
                <a:solidFill>
                  <a:srgbClr val="EDF3FA"/>
                </a:solidFill>
              </a:defRPr>
            </a:lvl5pPr>
            <a:lvl6pPr>
              <a:defRPr sz="2175" b="0">
                <a:solidFill>
                  <a:srgbClr val="EDF3FA"/>
                </a:solidFill>
              </a:defRPr>
            </a:lvl6pPr>
            <a:lvl7pPr>
              <a:defRPr sz="2175" b="0">
                <a:solidFill>
                  <a:srgbClr val="EDF3FA"/>
                </a:solidFill>
              </a:defRPr>
            </a:lvl7pPr>
            <a:lvl8pPr>
              <a:defRPr sz="2175" b="0">
                <a:solidFill>
                  <a:srgbClr val="EDF3FA"/>
                </a:solidFill>
              </a:defRPr>
            </a:lvl8pPr>
            <a:lvl9pPr>
              <a:defRPr sz="2175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DF3FA"/>
                </a:solidFill>
              </a:defRPr>
            </a:pPr>
            <a:r>
              <a:rPr sz="2175" b="0">
                <a:solidFill>
                  <a:srgbClr val="EDF3FA"/>
                </a:solidFill>
              </a:rPr>
              <a:t>Unknown evidence prompts a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DF3FA"/>
                </a:solidFill>
              </a:defRPr>
            </a:pPr>
            <a:r>
              <a:rPr sz="2175" b="0">
                <a:solidFill>
                  <a:srgbClr val="EDF3FA"/>
                </a:solidFill>
              </a:rPr>
              <a:t>A score does not establish truth or predict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DF3FA"/>
                </a:solidFill>
              </a:defRPr>
            </a:pPr>
            <a:r>
              <a:rPr sz="2175" b="0">
                <a:solidFill>
                  <a:srgbClr val="EDF3FA"/>
                </a:solidFill>
              </a:rPr>
              <a:t>Protected characteristics and geography do not contribute to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DF3FA"/>
                </a:solidFill>
              </a:defRPr>
            </a:pPr>
            <a:r>
              <a:rPr sz="2175" b="0">
                <a:solidFill>
                  <a:srgbClr val="EDF3FA"/>
                </a:solidFill>
              </a:rPr>
              <a:t>Real deployment would require validation and data governance.</a:t>
            </a:r>
          </a:p>
        </p:txBody>
      </p:sp>
    </p:spTree>
    <p:extLst>
      <p:ext uri="{BB962C8B-B14F-4D97-AF65-F5344CB8AC3E}">
        <p14:creationId xmlns:p14="http://schemas.microsoft.com/office/powerpoint/2010/main" val="15260394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7FB38-03FE-4DEF-9974-9F70363E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DF3FA"/>
                </a:solidFill>
              </a:defRPr>
            </a:defPPr>
            <a:lvl1pPr>
              <a:defRPr sz="3300" b="1">
                <a:solidFill>
                  <a:srgbClr val="EDF3FA"/>
                </a:solidFill>
              </a:defRPr>
            </a:lvl1pPr>
            <a:lvl2pPr>
              <a:defRPr sz="3300" b="1">
                <a:solidFill>
                  <a:srgbClr val="EDF3FA"/>
                </a:solidFill>
              </a:defRPr>
            </a:lvl2pPr>
            <a:lvl3pPr>
              <a:defRPr sz="3300" b="1">
                <a:solidFill>
                  <a:srgbClr val="EDF3FA"/>
                </a:solidFill>
              </a:defRPr>
            </a:lvl3pPr>
            <a:lvl4pPr>
              <a:defRPr sz="3300" b="1">
                <a:solidFill>
                  <a:srgbClr val="EDF3FA"/>
                </a:solidFill>
              </a:defRPr>
            </a:lvl4pPr>
            <a:lvl5pPr>
              <a:defRPr sz="3300" b="1">
                <a:solidFill>
                  <a:srgbClr val="EDF3FA"/>
                </a:solidFill>
              </a:defRPr>
            </a:lvl5pPr>
            <a:lvl6pPr>
              <a:defRPr sz="3300" b="1">
                <a:solidFill>
                  <a:srgbClr val="EDF3FA"/>
                </a:solidFill>
              </a:defRPr>
            </a:lvl6pPr>
            <a:lvl7pPr>
              <a:defRPr sz="3300" b="1">
                <a:solidFill>
                  <a:srgbClr val="EDF3FA"/>
                </a:solidFill>
              </a:defRPr>
            </a:lvl7pPr>
            <a:lvl8pPr>
              <a:defRPr sz="3300" b="1">
                <a:solidFill>
                  <a:srgbClr val="EDF3FA"/>
                </a:solidFill>
              </a:defRPr>
            </a:lvl8pPr>
            <a:lvl9pPr>
              <a:defRPr sz="33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DF3FA"/>
                </a:solidFill>
              </a:defRPr>
            </a:pPr>
            <a:r>
              <a:rPr sz="3300" b="1">
                <a:solidFill>
                  <a:srgbClr val="EDF3FA"/>
                </a:solidFill>
              </a:rPr>
              <a:t>Discussion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BAC72-2C9D-485E-8462-8DE57905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B9CD"/>
                </a:solidFill>
              </a:defRPr>
            </a:defPPr>
            <a:lvl1pPr>
              <a:defRPr sz="1350" b="0">
                <a:solidFill>
                  <a:srgbClr val="A9B9CD"/>
                </a:solidFill>
              </a:defRPr>
            </a:lvl1pPr>
            <a:lvl2pPr>
              <a:defRPr sz="1350" b="0">
                <a:solidFill>
                  <a:srgbClr val="A9B9CD"/>
                </a:solidFill>
              </a:defRPr>
            </a:lvl2pPr>
            <a:lvl3pPr>
              <a:defRPr sz="1350" b="0">
                <a:solidFill>
                  <a:srgbClr val="A9B9CD"/>
                </a:solidFill>
              </a:defRPr>
            </a:lvl3pPr>
            <a:lvl4pPr>
              <a:defRPr sz="1350" b="0">
                <a:solidFill>
                  <a:srgbClr val="A9B9CD"/>
                </a:solidFill>
              </a:defRPr>
            </a:lvl4pPr>
            <a:lvl5pPr>
              <a:defRPr sz="1350" b="0">
                <a:solidFill>
                  <a:srgbClr val="A9B9CD"/>
                </a:solidFill>
              </a:defRPr>
            </a:lvl5pPr>
            <a:lvl6pPr>
              <a:defRPr sz="1350" b="0">
                <a:solidFill>
                  <a:srgbClr val="A9B9CD"/>
                </a:solidFill>
              </a:defRPr>
            </a:lvl6pPr>
            <a:lvl7pPr>
              <a:defRPr sz="1350" b="0">
                <a:solidFill>
                  <a:srgbClr val="A9B9CD"/>
                </a:solidFill>
              </a:defRPr>
            </a:lvl7pPr>
            <a:lvl8pPr>
              <a:defRPr sz="1350" b="0">
                <a:solidFill>
                  <a:srgbClr val="A9B9CD"/>
                </a:solidFill>
              </a:defRPr>
            </a:lvl8pPr>
            <a:lvl9pPr>
              <a:defRPr sz="135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9B9CD"/>
                </a:solidFill>
              </a:defRPr>
            </a:pPr>
            <a:r>
              <a:rPr sz="1350" b="0">
                <a:solidFill>
                  <a:srgbClr val="A9B9C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E8DAD-4E6B-4C3B-8988-9F2E6E06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58D4BA"/>
                </a:solidFill>
              </a:defRPr>
            </a:defPPr>
            <a:lvl1pPr>
              <a:defRPr sz="2700" b="1">
                <a:solidFill>
                  <a:srgbClr val="58D4BA"/>
                </a:solidFill>
              </a:defRPr>
            </a:lvl1pPr>
            <a:lvl2pPr>
              <a:defRPr sz="2700" b="1">
                <a:solidFill>
                  <a:srgbClr val="58D4BA"/>
                </a:solidFill>
              </a:defRPr>
            </a:lvl2pPr>
            <a:lvl3pPr>
              <a:defRPr sz="2700" b="1">
                <a:solidFill>
                  <a:srgbClr val="58D4BA"/>
                </a:solidFill>
              </a:defRPr>
            </a:lvl3pPr>
            <a:lvl4pPr>
              <a:defRPr sz="2700" b="1">
                <a:solidFill>
                  <a:srgbClr val="58D4BA"/>
                </a:solidFill>
              </a:defRPr>
            </a:lvl4pPr>
            <a:lvl5pPr>
              <a:defRPr sz="2700" b="1">
                <a:solidFill>
                  <a:srgbClr val="58D4BA"/>
                </a:solidFill>
              </a:defRPr>
            </a:lvl5pPr>
            <a:lvl6pPr>
              <a:defRPr sz="2700" b="1">
                <a:solidFill>
                  <a:srgbClr val="58D4BA"/>
                </a:solidFill>
              </a:defRPr>
            </a:lvl6pPr>
            <a:lvl7pPr>
              <a:defRPr sz="2700" b="1">
                <a:solidFill>
                  <a:srgbClr val="58D4BA"/>
                </a:solidFill>
              </a:defRPr>
            </a:lvl7pPr>
            <a:lvl8pPr>
              <a:defRPr sz="2700" b="1">
                <a:solidFill>
                  <a:srgbClr val="58D4BA"/>
                </a:solidFill>
              </a:defRPr>
            </a:lvl8pPr>
            <a:lvl9pPr>
              <a:defRPr sz="2700" b="1">
                <a:solidFill>
                  <a:srgbClr val="58D4BA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58D4BA"/>
                </a:solidFill>
              </a:defRPr>
            </a:pPr>
            <a:r>
              <a:rPr sz="2700" b="1">
                <a:solidFill>
                  <a:srgbClr val="58D4BA"/>
                </a:solidFill>
              </a:rPr>
              <a:t>A week-one discussion with the GTM hiring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29A78-31FC-44A0-8A6C-B2DABD7E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EDF3FA"/>
                </a:solidFill>
              </a:defRPr>
            </a:defPPr>
            <a:lvl1pPr>
              <a:defRPr sz="2400" b="0">
                <a:solidFill>
                  <a:srgbClr val="EDF3FA"/>
                </a:solidFill>
              </a:defRPr>
            </a:lvl1pPr>
            <a:lvl2pPr>
              <a:defRPr sz="2400" b="0">
                <a:solidFill>
                  <a:srgbClr val="EDF3FA"/>
                </a:solidFill>
              </a:defRPr>
            </a:lvl2pPr>
            <a:lvl3pPr>
              <a:defRPr sz="2400" b="0">
                <a:solidFill>
                  <a:srgbClr val="EDF3FA"/>
                </a:solidFill>
              </a:defRPr>
            </a:lvl3pPr>
            <a:lvl4pPr>
              <a:defRPr sz="2400" b="0">
                <a:solidFill>
                  <a:srgbClr val="EDF3FA"/>
                </a:solidFill>
              </a:defRPr>
            </a:lvl4pPr>
            <a:lvl5pPr>
              <a:defRPr sz="2400" b="0">
                <a:solidFill>
                  <a:srgbClr val="EDF3FA"/>
                </a:solidFill>
              </a:defRPr>
            </a:lvl5pPr>
            <a:lvl6pPr>
              <a:defRPr sz="2400" b="0">
                <a:solidFill>
                  <a:srgbClr val="EDF3FA"/>
                </a:solidFill>
              </a:defRPr>
            </a:lvl6pPr>
            <a:lvl7pPr>
              <a:defRPr sz="2400" b="0">
                <a:solidFill>
                  <a:srgbClr val="EDF3FA"/>
                </a:solidFill>
              </a:defRPr>
            </a:lvl7pPr>
            <a:lvl8pPr>
              <a:defRPr sz="2400" b="0">
                <a:solidFill>
                  <a:srgbClr val="EDF3FA"/>
                </a:solidFill>
              </a:defRPr>
            </a:lvl8pPr>
            <a:lvl9pPr>
              <a:defRPr sz="240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DF3FA"/>
                </a:solidFill>
              </a:defRPr>
            </a:pPr>
            <a:r>
              <a:rPr sz="2400" b="0">
                <a:solidFill>
                  <a:srgbClr val="EDF3FA"/>
                </a:solidFill>
              </a:rPr>
              <a:t>Which capabilities are essential for the actual hiring brief?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EDF3FA"/>
                </a:solidFill>
              </a:defRPr>
            </a:pPr>
            <a:r>
              <a:rPr sz="2400" b="0">
                <a:solidFill>
                  <a:srgbClr val="EDF3FA"/>
                </a:solidFill>
              </a:rPr>
              <a:t>Where could adjacent experience strengthen the pipeline?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EDF3FA"/>
                </a:solidFill>
              </a:defRPr>
            </a:pPr>
            <a:r>
              <a:rPr sz="2400" b="0">
                <a:solidFill>
                  <a:srgbClr val="EDF3FA"/>
                </a:solidFill>
              </a:rPr>
              <a:t>What evidence would change the recruiter’s assessment?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3E0A7-8185-480E-8727-90149D9F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B9CD"/>
                </a:solidFill>
              </a:defRPr>
            </a:defPPr>
            <a:lvl1pPr>
              <a:defRPr sz="1800" b="0">
                <a:solidFill>
                  <a:srgbClr val="A9B9CD"/>
                </a:solidFill>
              </a:defRPr>
            </a:lvl1pPr>
            <a:lvl2pPr>
              <a:defRPr sz="1800" b="0">
                <a:solidFill>
                  <a:srgbClr val="A9B9CD"/>
                </a:solidFill>
              </a:defRPr>
            </a:lvl2pPr>
            <a:lvl3pPr>
              <a:defRPr sz="1800" b="0">
                <a:solidFill>
                  <a:srgbClr val="A9B9CD"/>
                </a:solidFill>
              </a:defRPr>
            </a:lvl3pPr>
            <a:lvl4pPr>
              <a:defRPr sz="1800" b="0">
                <a:solidFill>
                  <a:srgbClr val="A9B9CD"/>
                </a:solidFill>
              </a:defRPr>
            </a:lvl4pPr>
            <a:lvl5pPr>
              <a:defRPr sz="1800" b="0">
                <a:solidFill>
                  <a:srgbClr val="A9B9CD"/>
                </a:solidFill>
              </a:defRPr>
            </a:lvl5pPr>
            <a:lvl6pPr>
              <a:defRPr sz="1800" b="0">
                <a:solidFill>
                  <a:srgbClr val="A9B9CD"/>
                </a:solidFill>
              </a:defRPr>
            </a:lvl6pPr>
            <a:lvl7pPr>
              <a:defRPr sz="1800" b="0">
                <a:solidFill>
                  <a:srgbClr val="A9B9CD"/>
                </a:solidFill>
              </a:defRPr>
            </a:lvl7pPr>
            <a:lvl8pPr>
              <a:defRPr sz="1800" b="0">
                <a:solidFill>
                  <a:srgbClr val="A9B9CD"/>
                </a:solidFill>
              </a:defRPr>
            </a:lvl8pPr>
            <a:lvl9pPr>
              <a:defRPr sz="1800" b="0">
                <a:solidFill>
                  <a:srgbClr val="A9B9C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9B9CD"/>
                </a:solidFill>
              </a:defRPr>
            </a:pPr>
            <a:r>
              <a:rPr sz="1800" b="0">
                <a:solidFill>
                  <a:srgbClr val="A9B9CD"/>
                </a:solidFill>
              </a:rPr>
              <a:t>LinkedIn: https://www.linkedin.com/in/adambaiguk</a:t>
            </a:r>
          </a:p>
        </p:txBody>
      </p:sp>
    </p:spTree>
    <p:extLst>
      <p:ext uri="{BB962C8B-B14F-4D97-AF65-F5344CB8AC3E}">
        <p14:creationId xmlns:p14="http://schemas.microsoft.com/office/powerpoint/2010/main" val="1424341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2026-10-26T00:31:10.7530000Z</dcterms:created>
  <dcterms:modified xsi:type="dcterms:W3CDTF">2026-10-26T00:31:10.7530000Z</dcterms:modified>
</coreProperties>
</file>